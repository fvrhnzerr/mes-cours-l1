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15" r:id="rId3"/>
    <p:sldId id="316" r:id="rId4"/>
    <p:sldId id="258" r:id="rId5"/>
    <p:sldId id="259" r:id="rId6"/>
    <p:sldId id="261" r:id="rId7"/>
    <p:sldId id="317" r:id="rId8"/>
    <p:sldId id="262" r:id="rId9"/>
    <p:sldId id="285" r:id="rId10"/>
    <p:sldId id="286" r:id="rId11"/>
    <p:sldId id="293" r:id="rId12"/>
    <p:sldId id="263" r:id="rId13"/>
    <p:sldId id="265" r:id="rId14"/>
    <p:sldId id="307" r:id="rId15"/>
    <p:sldId id="266" r:id="rId16"/>
    <p:sldId id="308" r:id="rId17"/>
    <p:sldId id="318" r:id="rId18"/>
    <p:sldId id="267" r:id="rId19"/>
  </p:sldIdLst>
  <p:sldSz cx="9144000" cy="6858000" type="screen4x3"/>
  <p:notesSz cx="6858000" cy="9144000"/>
  <p:custShowLst>
    <p:custShow name="Diaporama personnalisé 1" id="0">
      <p:sldLst>
        <p:sld r:id="rId2"/>
      </p:sldLst>
    </p:custShow>
  </p:custShow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713358-A1CB-41FD-AE53-FD0D2C556A43}" v="180" dt="2023-09-23T07:53:31.924"/>
    <p1510:client id="{7C62D255-F912-4128-A42B-736B33724726}" v="104" dt="2023-09-26T09:18:46.746"/>
    <p1510:client id="{AFB79DE7-97F0-4620-9357-7752B759D6A1}" v="114" dt="2023-09-23T05:16:00.043"/>
    <p1510:client id="{C7D701C5-041D-4690-865E-C19D45FF9C47}" v="1608" dt="2023-09-25T07:15:22.995"/>
    <p1510:client id="{D5AFEF6D-D9B7-43C6-8B0F-FA4B09167AAB}" v="254" dt="2023-09-23T06:02:07.957"/>
  </p1510:revLst>
</p1510:revInfo>
</file>

<file path=ppt/tableStyles.xml><?xml version="1.0" encoding="utf-8"?>
<a:tblStyleLst xmlns:a="http://schemas.openxmlformats.org/drawingml/2006/main" def="{5C22544A-7EE6-4342-B048-85BDC9FD1C3A}">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03447BB-5D67-496B-8E87-E561075AD55C}" styleName="Style foncé 1 - Accentuation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C7BB19-2451-48DE-A214-238C678B94A1}"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fr-FR"/>
        </a:p>
      </dgm:t>
    </dgm:pt>
    <dgm:pt modelId="{4DC51901-4197-468B-9B78-92DBECAE72C6}">
      <dgm:prSet phldrT="[Texte]"/>
      <dgm:spPr/>
      <dgm:t>
        <a:bodyPr/>
        <a:lstStyle/>
        <a:p>
          <a:r>
            <a:rPr lang="fr-FR" dirty="0"/>
            <a:t>Variable qualitative</a:t>
          </a:r>
        </a:p>
      </dgm:t>
    </dgm:pt>
    <dgm:pt modelId="{DD09772B-9CCC-479A-82E8-B4CA5676984F}" type="parTrans" cxnId="{1C393C11-BC77-46AE-BC39-356FD427009C}">
      <dgm:prSet/>
      <dgm:spPr/>
      <dgm:t>
        <a:bodyPr/>
        <a:lstStyle/>
        <a:p>
          <a:endParaRPr lang="fr-FR"/>
        </a:p>
      </dgm:t>
    </dgm:pt>
    <dgm:pt modelId="{94FF77E5-3001-4E86-B8BF-98A9CA5A47B2}" type="sibTrans" cxnId="{1C393C11-BC77-46AE-BC39-356FD427009C}">
      <dgm:prSet/>
      <dgm:spPr/>
      <dgm:t>
        <a:bodyPr/>
        <a:lstStyle/>
        <a:p>
          <a:endParaRPr lang="fr-FR"/>
        </a:p>
      </dgm:t>
    </dgm:pt>
    <dgm:pt modelId="{DD4E4C8D-3CE2-405D-95D2-697BE4DE18E5}">
      <dgm:prSet phldrT="[Texte]"/>
      <dgm:spPr/>
      <dgm:t>
        <a:bodyPr/>
        <a:lstStyle/>
        <a:p>
          <a:r>
            <a:rPr lang="fr-FR" dirty="0"/>
            <a:t>Variable qualitative nominale</a:t>
          </a:r>
        </a:p>
      </dgm:t>
    </dgm:pt>
    <dgm:pt modelId="{91E7DD5C-BD85-4E66-8039-747871B8A7A3}" type="parTrans" cxnId="{62D9707D-D470-46FC-88A9-BC5D2A6FC2D9}">
      <dgm:prSet/>
      <dgm:spPr/>
      <dgm:t>
        <a:bodyPr/>
        <a:lstStyle/>
        <a:p>
          <a:endParaRPr lang="fr-FR"/>
        </a:p>
      </dgm:t>
    </dgm:pt>
    <dgm:pt modelId="{C785E522-E2DC-40BD-B67F-1422C7911FDB}" type="sibTrans" cxnId="{62D9707D-D470-46FC-88A9-BC5D2A6FC2D9}">
      <dgm:prSet/>
      <dgm:spPr/>
      <dgm:t>
        <a:bodyPr/>
        <a:lstStyle/>
        <a:p>
          <a:endParaRPr lang="fr-FR"/>
        </a:p>
      </dgm:t>
    </dgm:pt>
    <dgm:pt modelId="{374AEAEC-589F-408C-9F3F-D66FE9BECA2F}">
      <dgm:prSet phldrT="[Texte]" custT="1"/>
      <dgm:spPr/>
      <dgm:t>
        <a:bodyPr/>
        <a:lstStyle/>
        <a:p>
          <a:endParaRPr lang="fr-FR" sz="1900" dirty="0"/>
        </a:p>
      </dgm:t>
    </dgm:pt>
    <dgm:pt modelId="{4AE4D966-CFF5-4C4F-8936-D8D7469F04BC}" type="parTrans" cxnId="{C592CEF5-4EBF-4976-8D88-E2C38AEB6C49}">
      <dgm:prSet/>
      <dgm:spPr/>
      <dgm:t>
        <a:bodyPr/>
        <a:lstStyle/>
        <a:p>
          <a:endParaRPr lang="fr-FR"/>
        </a:p>
      </dgm:t>
    </dgm:pt>
    <dgm:pt modelId="{02F04236-E023-4C32-A19E-59C4BFC3D139}" type="sibTrans" cxnId="{C592CEF5-4EBF-4976-8D88-E2C38AEB6C49}">
      <dgm:prSet/>
      <dgm:spPr/>
      <dgm:t>
        <a:bodyPr/>
        <a:lstStyle/>
        <a:p>
          <a:endParaRPr lang="fr-FR"/>
        </a:p>
      </dgm:t>
    </dgm:pt>
    <dgm:pt modelId="{DA2A11F6-7FCC-4E9F-AB67-15E3DC5505C3}">
      <dgm:prSet phldrT="[Texte]" custT="1"/>
      <dgm:spPr/>
      <dgm:t>
        <a:bodyPr/>
        <a:lstStyle/>
        <a:p>
          <a:pPr>
            <a:spcBef>
              <a:spcPct val="0"/>
            </a:spcBef>
          </a:pPr>
          <a:endParaRPr lang="fr-FR" sz="2000" b="1" dirty="0"/>
        </a:p>
        <a:p>
          <a:pPr>
            <a:spcBef>
              <a:spcPct val="0"/>
            </a:spcBef>
          </a:pPr>
          <a:endParaRPr lang="fr-FR" sz="2000" b="1" dirty="0"/>
        </a:p>
        <a:p>
          <a:pPr>
            <a:spcBef>
              <a:spcPct val="0"/>
            </a:spcBef>
          </a:pPr>
          <a:endParaRPr lang="fr-FR" sz="2000" b="1" dirty="0"/>
        </a:p>
        <a:p>
          <a:pPr>
            <a:spcBef>
              <a:spcPct val="0"/>
            </a:spcBef>
          </a:pPr>
          <a:endParaRPr lang="fr-FR" sz="2000" b="1" dirty="0"/>
        </a:p>
        <a:p>
          <a:pPr>
            <a:spcBef>
              <a:spcPct val="0"/>
            </a:spcBef>
          </a:pPr>
          <a:endParaRPr lang="fr-FR" sz="2000" b="1" dirty="0"/>
        </a:p>
        <a:p>
          <a:pPr>
            <a:spcBef>
              <a:spcPct val="0"/>
            </a:spcBef>
          </a:pPr>
          <a:endParaRPr lang="fr-FR" sz="2000" b="1" dirty="0"/>
        </a:p>
        <a:p>
          <a:pPr>
            <a:spcBef>
              <a:spcPct val="0"/>
            </a:spcBef>
          </a:pPr>
          <a:endParaRPr lang="fr-FR" sz="2000" b="1" dirty="0"/>
        </a:p>
      </dgm:t>
    </dgm:pt>
    <dgm:pt modelId="{915A2CA3-DE3E-43EC-B81C-36A9CFD10E76}">
      <dgm:prSet phldrT="[Texte]"/>
      <dgm:spPr/>
      <dgm:t>
        <a:bodyPr/>
        <a:lstStyle/>
        <a:p>
          <a:r>
            <a:rPr lang="fr-FR" dirty="0"/>
            <a:t>Variable qualitative ordinale</a:t>
          </a:r>
        </a:p>
      </dgm:t>
    </dgm:pt>
    <dgm:pt modelId="{B8283361-3821-41B2-9A7E-D725869CB3A1}" type="sibTrans" cxnId="{E87DC0E8-47CB-4C4B-89B9-1C17A444A49B}">
      <dgm:prSet/>
      <dgm:spPr/>
      <dgm:t>
        <a:bodyPr/>
        <a:lstStyle/>
        <a:p>
          <a:endParaRPr lang="fr-FR"/>
        </a:p>
      </dgm:t>
    </dgm:pt>
    <dgm:pt modelId="{D82A4FD9-0630-4533-B964-0B7AF7D2A714}" type="parTrans" cxnId="{E87DC0E8-47CB-4C4B-89B9-1C17A444A49B}">
      <dgm:prSet/>
      <dgm:spPr/>
      <dgm:t>
        <a:bodyPr/>
        <a:lstStyle/>
        <a:p>
          <a:endParaRPr lang="fr-FR"/>
        </a:p>
      </dgm:t>
    </dgm:pt>
    <dgm:pt modelId="{9AD30194-AC8C-4F37-90A6-440BAA2B5B51}" type="sibTrans" cxnId="{F0C7A3BF-9A8B-4FED-AA31-6B77A8BFD532}">
      <dgm:prSet/>
      <dgm:spPr/>
      <dgm:t>
        <a:bodyPr/>
        <a:lstStyle/>
        <a:p>
          <a:endParaRPr lang="fr-FR"/>
        </a:p>
      </dgm:t>
    </dgm:pt>
    <dgm:pt modelId="{9AAD1F0B-6E7E-49CC-8CDE-5FB78A588287}" type="parTrans" cxnId="{F0C7A3BF-9A8B-4FED-AA31-6B77A8BFD532}">
      <dgm:prSet/>
      <dgm:spPr/>
      <dgm:t>
        <a:bodyPr/>
        <a:lstStyle/>
        <a:p>
          <a:endParaRPr lang="fr-FR"/>
        </a:p>
      </dgm:t>
    </dgm:pt>
    <dgm:pt modelId="{F6E370D8-4585-4D46-983F-4A24DF4CC8B1}" type="pres">
      <dgm:prSet presAssocID="{39C7BB19-2451-48DE-A214-238C678B94A1}" presName="Name0" presStyleCnt="0">
        <dgm:presLayoutVars>
          <dgm:chPref val="1"/>
          <dgm:dir/>
          <dgm:animOne val="branch"/>
          <dgm:animLvl val="lvl"/>
          <dgm:resizeHandles/>
        </dgm:presLayoutVars>
      </dgm:prSet>
      <dgm:spPr/>
      <dgm:t>
        <a:bodyPr/>
        <a:lstStyle/>
        <a:p>
          <a:endParaRPr lang="fr-FR"/>
        </a:p>
      </dgm:t>
    </dgm:pt>
    <dgm:pt modelId="{74784801-29B0-43EB-9094-D793757761B7}" type="pres">
      <dgm:prSet presAssocID="{4DC51901-4197-468B-9B78-92DBECAE72C6}" presName="vertOne" presStyleCnt="0"/>
      <dgm:spPr/>
    </dgm:pt>
    <dgm:pt modelId="{4CC85EF1-C23D-4788-82D0-61F8A1945A2A}" type="pres">
      <dgm:prSet presAssocID="{4DC51901-4197-468B-9B78-92DBECAE72C6}" presName="txOne" presStyleLbl="node0" presStyleIdx="0" presStyleCnt="1" custScaleY="21857">
        <dgm:presLayoutVars>
          <dgm:chPref val="3"/>
        </dgm:presLayoutVars>
      </dgm:prSet>
      <dgm:spPr/>
      <dgm:t>
        <a:bodyPr/>
        <a:lstStyle/>
        <a:p>
          <a:endParaRPr lang="fr-FR"/>
        </a:p>
      </dgm:t>
    </dgm:pt>
    <dgm:pt modelId="{0CDB408D-98EB-4C81-AC0B-856F1F8AB195}" type="pres">
      <dgm:prSet presAssocID="{4DC51901-4197-468B-9B78-92DBECAE72C6}" presName="parTransOne" presStyleCnt="0"/>
      <dgm:spPr/>
    </dgm:pt>
    <dgm:pt modelId="{92B65192-94BD-4442-9819-7C5EB353E065}" type="pres">
      <dgm:prSet presAssocID="{4DC51901-4197-468B-9B78-92DBECAE72C6}" presName="horzOne" presStyleCnt="0"/>
      <dgm:spPr/>
    </dgm:pt>
    <dgm:pt modelId="{F68698A3-A320-4D21-AD37-035B17A50B92}" type="pres">
      <dgm:prSet presAssocID="{DD4E4C8D-3CE2-405D-95D2-697BE4DE18E5}" presName="vertTwo" presStyleCnt="0"/>
      <dgm:spPr/>
    </dgm:pt>
    <dgm:pt modelId="{B68F5DF1-6ECD-46F6-A0D3-0CEC560CC82C}" type="pres">
      <dgm:prSet presAssocID="{DD4E4C8D-3CE2-405D-95D2-697BE4DE18E5}" presName="txTwo" presStyleLbl="node2" presStyleIdx="0" presStyleCnt="2" custScaleY="20668" custLinFactX="-33792" custLinFactNeighborX="-100000" custLinFactNeighborY="-57787">
        <dgm:presLayoutVars>
          <dgm:chPref val="3"/>
        </dgm:presLayoutVars>
      </dgm:prSet>
      <dgm:spPr/>
      <dgm:t>
        <a:bodyPr/>
        <a:lstStyle/>
        <a:p>
          <a:endParaRPr lang="fr-FR"/>
        </a:p>
      </dgm:t>
    </dgm:pt>
    <dgm:pt modelId="{BF382498-55C6-4C86-9CE7-B8FD9FB5A0F0}" type="pres">
      <dgm:prSet presAssocID="{DD4E4C8D-3CE2-405D-95D2-697BE4DE18E5}" presName="parTransTwo" presStyleCnt="0"/>
      <dgm:spPr/>
    </dgm:pt>
    <dgm:pt modelId="{665DC2D3-B279-4FB8-8FB8-D18FF7811B42}" type="pres">
      <dgm:prSet presAssocID="{DD4E4C8D-3CE2-405D-95D2-697BE4DE18E5}" presName="horzTwo" presStyleCnt="0"/>
      <dgm:spPr/>
    </dgm:pt>
    <dgm:pt modelId="{51E160CB-A312-4841-B98F-E0A4C85D1A75}" type="pres">
      <dgm:prSet presAssocID="{374AEAEC-589F-408C-9F3F-D66FE9BECA2F}" presName="vertThree" presStyleCnt="0"/>
      <dgm:spPr/>
    </dgm:pt>
    <dgm:pt modelId="{9E8F1C0C-E2B9-46C1-B0B9-465B945B867A}" type="pres">
      <dgm:prSet presAssocID="{374AEAEC-589F-408C-9F3F-D66FE9BECA2F}" presName="txThree" presStyleLbl="node3" presStyleIdx="0" presStyleCnt="2" custScaleX="100605" custScaleY="127448" custLinFactNeighborX="761" custLinFactNeighborY="-8645">
        <dgm:presLayoutVars>
          <dgm:chPref val="3"/>
        </dgm:presLayoutVars>
      </dgm:prSet>
      <dgm:spPr/>
      <dgm:t>
        <a:bodyPr/>
        <a:lstStyle/>
        <a:p>
          <a:endParaRPr lang="fr-FR"/>
        </a:p>
      </dgm:t>
    </dgm:pt>
    <dgm:pt modelId="{CBDE6235-58A4-42F8-8B59-ADF9CB92DD8A}" type="pres">
      <dgm:prSet presAssocID="{374AEAEC-589F-408C-9F3F-D66FE9BECA2F}" presName="horzThree" presStyleCnt="0"/>
      <dgm:spPr/>
    </dgm:pt>
    <dgm:pt modelId="{431F5FA3-07EE-4DAF-8AC8-19918DA97F88}" type="pres">
      <dgm:prSet presAssocID="{C785E522-E2DC-40BD-B67F-1422C7911FDB}" presName="sibSpaceTwo" presStyleCnt="0"/>
      <dgm:spPr/>
    </dgm:pt>
    <dgm:pt modelId="{00A0AF0D-D939-4F64-BDEE-CF1C265F84B4}" type="pres">
      <dgm:prSet presAssocID="{915A2CA3-DE3E-43EC-B81C-36A9CFD10E76}" presName="vertTwo" presStyleCnt="0"/>
      <dgm:spPr/>
    </dgm:pt>
    <dgm:pt modelId="{0841DDE4-9387-425E-824B-A73050130F7F}" type="pres">
      <dgm:prSet presAssocID="{915A2CA3-DE3E-43EC-B81C-36A9CFD10E76}" presName="txTwo" presStyleLbl="node2" presStyleIdx="1" presStyleCnt="2" custScaleY="22421" custLinFactNeighborX="85439" custLinFactNeighborY="-65821">
        <dgm:presLayoutVars>
          <dgm:chPref val="3"/>
        </dgm:presLayoutVars>
      </dgm:prSet>
      <dgm:spPr/>
      <dgm:t>
        <a:bodyPr/>
        <a:lstStyle/>
        <a:p>
          <a:endParaRPr lang="fr-FR"/>
        </a:p>
      </dgm:t>
    </dgm:pt>
    <dgm:pt modelId="{CB289AEA-C9BA-44DE-96E9-A7EBBC5891AC}" type="pres">
      <dgm:prSet presAssocID="{915A2CA3-DE3E-43EC-B81C-36A9CFD10E76}" presName="parTransTwo" presStyleCnt="0"/>
      <dgm:spPr/>
    </dgm:pt>
    <dgm:pt modelId="{B50ADB54-2820-43BF-A5C5-BF839A00E812}" type="pres">
      <dgm:prSet presAssocID="{915A2CA3-DE3E-43EC-B81C-36A9CFD10E76}" presName="horzTwo" presStyleCnt="0"/>
      <dgm:spPr/>
    </dgm:pt>
    <dgm:pt modelId="{3ABED36D-BC6F-4115-AA16-709D81CDA1FE}" type="pres">
      <dgm:prSet presAssocID="{DA2A11F6-7FCC-4E9F-AB67-15E3DC5505C3}" presName="vertThree" presStyleCnt="0"/>
      <dgm:spPr/>
    </dgm:pt>
    <dgm:pt modelId="{512461DE-D3FF-43F8-BC50-7FDB149A2686}" type="pres">
      <dgm:prSet presAssocID="{DA2A11F6-7FCC-4E9F-AB67-15E3DC5505C3}" presName="txThree" presStyleLbl="node3" presStyleIdx="1" presStyleCnt="2" custScaleX="126838" custScaleY="129668" custLinFactNeighborX="-642" custLinFactNeighborY="-11123">
        <dgm:presLayoutVars>
          <dgm:chPref val="3"/>
        </dgm:presLayoutVars>
      </dgm:prSet>
      <dgm:spPr/>
      <dgm:t>
        <a:bodyPr/>
        <a:lstStyle/>
        <a:p>
          <a:endParaRPr lang="fr-FR"/>
        </a:p>
      </dgm:t>
    </dgm:pt>
    <dgm:pt modelId="{5BFFE5BE-66E6-49F7-9C46-E99E860C96BF}" type="pres">
      <dgm:prSet presAssocID="{DA2A11F6-7FCC-4E9F-AB67-15E3DC5505C3}" presName="horzThree" presStyleCnt="0"/>
      <dgm:spPr/>
    </dgm:pt>
  </dgm:ptLst>
  <dgm:cxnLst>
    <dgm:cxn modelId="{62D9707D-D470-46FC-88A9-BC5D2A6FC2D9}" srcId="{4DC51901-4197-468B-9B78-92DBECAE72C6}" destId="{DD4E4C8D-3CE2-405D-95D2-697BE4DE18E5}" srcOrd="0" destOrd="0" parTransId="{91E7DD5C-BD85-4E66-8039-747871B8A7A3}" sibTransId="{C785E522-E2DC-40BD-B67F-1422C7911FDB}"/>
    <dgm:cxn modelId="{8C7BAABE-D0FF-4075-BB3D-210BF8751164}" type="presOf" srcId="{915A2CA3-DE3E-43EC-B81C-36A9CFD10E76}" destId="{0841DDE4-9387-425E-824B-A73050130F7F}" srcOrd="0" destOrd="0" presId="urn:microsoft.com/office/officeart/2005/8/layout/hierarchy4"/>
    <dgm:cxn modelId="{C592CEF5-4EBF-4976-8D88-E2C38AEB6C49}" srcId="{DD4E4C8D-3CE2-405D-95D2-697BE4DE18E5}" destId="{374AEAEC-589F-408C-9F3F-D66FE9BECA2F}" srcOrd="0" destOrd="0" parTransId="{4AE4D966-CFF5-4C4F-8936-D8D7469F04BC}" sibTransId="{02F04236-E023-4C32-A19E-59C4BFC3D139}"/>
    <dgm:cxn modelId="{1C393C11-BC77-46AE-BC39-356FD427009C}" srcId="{39C7BB19-2451-48DE-A214-238C678B94A1}" destId="{4DC51901-4197-468B-9B78-92DBECAE72C6}" srcOrd="0" destOrd="0" parTransId="{DD09772B-9CCC-479A-82E8-B4CA5676984F}" sibTransId="{94FF77E5-3001-4E86-B8BF-98A9CA5A47B2}"/>
    <dgm:cxn modelId="{DCB0CEDE-7AB8-4E4D-9444-6909AA14C8D2}" type="presOf" srcId="{DA2A11F6-7FCC-4E9F-AB67-15E3DC5505C3}" destId="{512461DE-D3FF-43F8-BC50-7FDB149A2686}" srcOrd="0" destOrd="0" presId="urn:microsoft.com/office/officeart/2005/8/layout/hierarchy4"/>
    <dgm:cxn modelId="{A8ABB8CD-EDDD-4CEB-9376-4CF55A81607E}" type="presOf" srcId="{DD4E4C8D-3CE2-405D-95D2-697BE4DE18E5}" destId="{B68F5DF1-6ECD-46F6-A0D3-0CEC560CC82C}" srcOrd="0" destOrd="0" presId="urn:microsoft.com/office/officeart/2005/8/layout/hierarchy4"/>
    <dgm:cxn modelId="{9FD820F9-0270-40FB-B578-3D03397B7417}" type="presOf" srcId="{39C7BB19-2451-48DE-A214-238C678B94A1}" destId="{F6E370D8-4585-4D46-983F-4A24DF4CC8B1}" srcOrd="0" destOrd="0" presId="urn:microsoft.com/office/officeart/2005/8/layout/hierarchy4"/>
    <dgm:cxn modelId="{39A537F8-A6ED-41D2-A543-261BC67D44F3}" type="presOf" srcId="{374AEAEC-589F-408C-9F3F-D66FE9BECA2F}" destId="{9E8F1C0C-E2B9-46C1-B0B9-465B945B867A}" srcOrd="0" destOrd="0" presId="urn:microsoft.com/office/officeart/2005/8/layout/hierarchy4"/>
    <dgm:cxn modelId="{7C9B0821-C279-4E88-A93B-B45ECC1DD5C8}" type="presOf" srcId="{4DC51901-4197-468B-9B78-92DBECAE72C6}" destId="{4CC85EF1-C23D-4788-82D0-61F8A1945A2A}" srcOrd="0" destOrd="0" presId="urn:microsoft.com/office/officeart/2005/8/layout/hierarchy4"/>
    <dgm:cxn modelId="{E87DC0E8-47CB-4C4B-89B9-1C17A444A49B}" srcId="{4DC51901-4197-468B-9B78-92DBECAE72C6}" destId="{915A2CA3-DE3E-43EC-B81C-36A9CFD10E76}" srcOrd="1" destOrd="0" parTransId="{D82A4FD9-0630-4533-B964-0B7AF7D2A714}" sibTransId="{B8283361-3821-41B2-9A7E-D725869CB3A1}"/>
    <dgm:cxn modelId="{F0C7A3BF-9A8B-4FED-AA31-6B77A8BFD532}" srcId="{915A2CA3-DE3E-43EC-B81C-36A9CFD10E76}" destId="{DA2A11F6-7FCC-4E9F-AB67-15E3DC5505C3}" srcOrd="0" destOrd="0" parTransId="{9AAD1F0B-6E7E-49CC-8CDE-5FB78A588287}" sibTransId="{9AD30194-AC8C-4F37-90A6-440BAA2B5B51}"/>
    <dgm:cxn modelId="{CC004CC5-1E36-4CCC-AE39-63949DBAA4F2}" type="presParOf" srcId="{F6E370D8-4585-4D46-983F-4A24DF4CC8B1}" destId="{74784801-29B0-43EB-9094-D793757761B7}" srcOrd="0" destOrd="0" presId="urn:microsoft.com/office/officeart/2005/8/layout/hierarchy4"/>
    <dgm:cxn modelId="{01D6797E-DDD5-447C-90C5-AFE67E886338}" type="presParOf" srcId="{74784801-29B0-43EB-9094-D793757761B7}" destId="{4CC85EF1-C23D-4788-82D0-61F8A1945A2A}" srcOrd="0" destOrd="0" presId="urn:microsoft.com/office/officeart/2005/8/layout/hierarchy4"/>
    <dgm:cxn modelId="{D7333DC4-7A9A-4C44-BE32-1AB1D20DD824}" type="presParOf" srcId="{74784801-29B0-43EB-9094-D793757761B7}" destId="{0CDB408D-98EB-4C81-AC0B-856F1F8AB195}" srcOrd="1" destOrd="0" presId="urn:microsoft.com/office/officeart/2005/8/layout/hierarchy4"/>
    <dgm:cxn modelId="{98D6F037-2139-4E04-832D-A92EAF949799}" type="presParOf" srcId="{74784801-29B0-43EB-9094-D793757761B7}" destId="{92B65192-94BD-4442-9819-7C5EB353E065}" srcOrd="2" destOrd="0" presId="urn:microsoft.com/office/officeart/2005/8/layout/hierarchy4"/>
    <dgm:cxn modelId="{11D58ABA-E724-401E-B2FC-9E3564B612A5}" type="presParOf" srcId="{92B65192-94BD-4442-9819-7C5EB353E065}" destId="{F68698A3-A320-4D21-AD37-035B17A50B92}" srcOrd="0" destOrd="0" presId="urn:microsoft.com/office/officeart/2005/8/layout/hierarchy4"/>
    <dgm:cxn modelId="{0C6486E6-1F77-45E1-8537-3FEE898FEA47}" type="presParOf" srcId="{F68698A3-A320-4D21-AD37-035B17A50B92}" destId="{B68F5DF1-6ECD-46F6-A0D3-0CEC560CC82C}" srcOrd="0" destOrd="0" presId="urn:microsoft.com/office/officeart/2005/8/layout/hierarchy4"/>
    <dgm:cxn modelId="{A74923F1-D55B-4AFD-B9D3-39BA9025C68E}" type="presParOf" srcId="{F68698A3-A320-4D21-AD37-035B17A50B92}" destId="{BF382498-55C6-4C86-9CE7-B8FD9FB5A0F0}" srcOrd="1" destOrd="0" presId="urn:microsoft.com/office/officeart/2005/8/layout/hierarchy4"/>
    <dgm:cxn modelId="{C73DF122-33A0-4AD7-BCE3-08F0713AC491}" type="presParOf" srcId="{F68698A3-A320-4D21-AD37-035B17A50B92}" destId="{665DC2D3-B279-4FB8-8FB8-D18FF7811B42}" srcOrd="2" destOrd="0" presId="urn:microsoft.com/office/officeart/2005/8/layout/hierarchy4"/>
    <dgm:cxn modelId="{C6FB3DD9-1F90-47E9-A54A-39F7768CF7A6}" type="presParOf" srcId="{665DC2D3-B279-4FB8-8FB8-D18FF7811B42}" destId="{51E160CB-A312-4841-B98F-E0A4C85D1A75}" srcOrd="0" destOrd="0" presId="urn:microsoft.com/office/officeart/2005/8/layout/hierarchy4"/>
    <dgm:cxn modelId="{D7CDE5D7-CE18-4DD1-A6BD-781A41B55C0C}" type="presParOf" srcId="{51E160CB-A312-4841-B98F-E0A4C85D1A75}" destId="{9E8F1C0C-E2B9-46C1-B0B9-465B945B867A}" srcOrd="0" destOrd="0" presId="urn:microsoft.com/office/officeart/2005/8/layout/hierarchy4"/>
    <dgm:cxn modelId="{1DC646DB-17A8-42FE-B89B-6AD6C08F504E}" type="presParOf" srcId="{51E160CB-A312-4841-B98F-E0A4C85D1A75}" destId="{CBDE6235-58A4-42F8-8B59-ADF9CB92DD8A}" srcOrd="1" destOrd="0" presId="urn:microsoft.com/office/officeart/2005/8/layout/hierarchy4"/>
    <dgm:cxn modelId="{EB79F182-7DBC-447C-9D7E-D583EA977AB5}" type="presParOf" srcId="{92B65192-94BD-4442-9819-7C5EB353E065}" destId="{431F5FA3-07EE-4DAF-8AC8-19918DA97F88}" srcOrd="1" destOrd="0" presId="urn:microsoft.com/office/officeart/2005/8/layout/hierarchy4"/>
    <dgm:cxn modelId="{CB8508DC-4198-4191-AFA9-2E9B5D93967D}" type="presParOf" srcId="{92B65192-94BD-4442-9819-7C5EB353E065}" destId="{00A0AF0D-D939-4F64-BDEE-CF1C265F84B4}" srcOrd="2" destOrd="0" presId="urn:microsoft.com/office/officeart/2005/8/layout/hierarchy4"/>
    <dgm:cxn modelId="{1866C20E-6BED-40FD-89EE-E41A1852795D}" type="presParOf" srcId="{00A0AF0D-D939-4F64-BDEE-CF1C265F84B4}" destId="{0841DDE4-9387-425E-824B-A73050130F7F}" srcOrd="0" destOrd="0" presId="urn:microsoft.com/office/officeart/2005/8/layout/hierarchy4"/>
    <dgm:cxn modelId="{9ABC7FD6-970C-49F1-8904-AB35B21BEC43}" type="presParOf" srcId="{00A0AF0D-D939-4F64-BDEE-CF1C265F84B4}" destId="{CB289AEA-C9BA-44DE-96E9-A7EBBC5891AC}" srcOrd="1" destOrd="0" presId="urn:microsoft.com/office/officeart/2005/8/layout/hierarchy4"/>
    <dgm:cxn modelId="{30D664E6-4F93-4240-8117-5097F81867E0}" type="presParOf" srcId="{00A0AF0D-D939-4F64-BDEE-CF1C265F84B4}" destId="{B50ADB54-2820-43BF-A5C5-BF839A00E812}" srcOrd="2" destOrd="0" presId="urn:microsoft.com/office/officeart/2005/8/layout/hierarchy4"/>
    <dgm:cxn modelId="{63BE0226-FCBE-446A-895B-098D4ED174E1}" type="presParOf" srcId="{B50ADB54-2820-43BF-A5C5-BF839A00E812}" destId="{3ABED36D-BC6F-4115-AA16-709D81CDA1FE}" srcOrd="0" destOrd="0" presId="urn:microsoft.com/office/officeart/2005/8/layout/hierarchy4"/>
    <dgm:cxn modelId="{64A607C3-D0FB-4E9B-9013-23DACC928B2E}" type="presParOf" srcId="{3ABED36D-BC6F-4115-AA16-709D81CDA1FE}" destId="{512461DE-D3FF-43F8-BC50-7FDB149A2686}" srcOrd="0" destOrd="0" presId="urn:microsoft.com/office/officeart/2005/8/layout/hierarchy4"/>
    <dgm:cxn modelId="{EA85839B-2925-490B-B232-1832F219E1D3}" type="presParOf" srcId="{3ABED36D-BC6F-4115-AA16-709D81CDA1FE}" destId="{5BFFE5BE-66E6-49F7-9C46-E99E860C96B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891563-7097-4E6A-804C-28D7D7A3E388}" type="doc">
      <dgm:prSet loTypeId="urn:microsoft.com/office/officeart/2005/8/layout/hierarchy4" loCatId="list" qsTypeId="urn:microsoft.com/office/officeart/2005/8/quickstyle/simple1" qsCatId="simple" csTypeId="urn:microsoft.com/office/officeart/2005/8/colors/accent1_2" csCatId="accent1" phldr="1"/>
      <dgm:spPr/>
      <dgm:t>
        <a:bodyPr/>
        <a:lstStyle/>
        <a:p>
          <a:endParaRPr lang="fr-FR"/>
        </a:p>
      </dgm:t>
    </dgm:pt>
    <dgm:pt modelId="{11FBD70C-2AA1-4045-AE34-9EBBC5C4579D}">
      <dgm:prSet phldrT="[Texte]"/>
      <dgm:spPr/>
      <dgm:t>
        <a:bodyPr/>
        <a:lstStyle/>
        <a:p>
          <a:r>
            <a:rPr lang="fr-FR" dirty="0"/>
            <a:t>Variable quantitative</a:t>
          </a:r>
        </a:p>
      </dgm:t>
    </dgm:pt>
    <dgm:pt modelId="{70AEF06C-E4A8-4E55-9726-C92AF1AC7E65}" type="parTrans" cxnId="{3CBC5778-B71D-40C1-B2D1-0D1BF556B048}">
      <dgm:prSet/>
      <dgm:spPr/>
      <dgm:t>
        <a:bodyPr/>
        <a:lstStyle/>
        <a:p>
          <a:endParaRPr lang="fr-FR"/>
        </a:p>
      </dgm:t>
    </dgm:pt>
    <dgm:pt modelId="{13D95931-E821-4A05-811F-402363FA0A03}" type="sibTrans" cxnId="{3CBC5778-B71D-40C1-B2D1-0D1BF556B048}">
      <dgm:prSet/>
      <dgm:spPr/>
      <dgm:t>
        <a:bodyPr/>
        <a:lstStyle/>
        <a:p>
          <a:endParaRPr lang="fr-FR"/>
        </a:p>
      </dgm:t>
    </dgm:pt>
    <dgm:pt modelId="{28A33954-FE81-4E02-BF97-6E5F5F8A637A}">
      <dgm:prSet phldrT="[Texte]"/>
      <dgm:spPr/>
      <dgm:t>
        <a:bodyPr/>
        <a:lstStyle/>
        <a:p>
          <a:r>
            <a:rPr lang="fr-FR" dirty="0"/>
            <a:t>Variable quantitative discrète</a:t>
          </a:r>
        </a:p>
      </dgm:t>
    </dgm:pt>
    <dgm:pt modelId="{5273D092-2A86-41D2-88C5-1E2C803AA3AE}" type="parTrans" cxnId="{9F968BD0-2A96-434D-A58C-AEE5215F2C71}">
      <dgm:prSet/>
      <dgm:spPr/>
      <dgm:t>
        <a:bodyPr/>
        <a:lstStyle/>
        <a:p>
          <a:endParaRPr lang="fr-FR"/>
        </a:p>
      </dgm:t>
    </dgm:pt>
    <dgm:pt modelId="{84868BD6-EFB0-4FD1-A469-9515E5FF248B}" type="sibTrans" cxnId="{9F968BD0-2A96-434D-A58C-AEE5215F2C71}">
      <dgm:prSet/>
      <dgm:spPr/>
      <dgm:t>
        <a:bodyPr/>
        <a:lstStyle/>
        <a:p>
          <a:endParaRPr lang="fr-FR"/>
        </a:p>
      </dgm:t>
    </dgm:pt>
    <dgm:pt modelId="{7BAF0A7F-AA6F-4548-9D4B-85B49260167F}">
      <dgm:prSet phldrT="[Texte]"/>
      <dgm:spPr/>
      <dgm:t>
        <a:bodyPr/>
        <a:lstStyle/>
        <a:p>
          <a:r>
            <a:rPr lang="fr-FR" b="1" u="sng" dirty="0"/>
            <a:t>Exemples </a:t>
          </a:r>
        </a:p>
        <a:p>
          <a:r>
            <a:rPr lang="fr-FR" dirty="0"/>
            <a:t>Nombre d’enfant par famille</a:t>
          </a:r>
        </a:p>
        <a:p>
          <a:r>
            <a:rPr lang="fr-FR" dirty="0"/>
            <a:t>La note à un contrôle</a:t>
          </a:r>
        </a:p>
        <a:p>
          <a:endParaRPr lang="fr-FR" dirty="0"/>
        </a:p>
        <a:p>
          <a:endParaRPr lang="fr-FR" dirty="0"/>
        </a:p>
        <a:p>
          <a:endParaRPr lang="fr-FR" dirty="0"/>
        </a:p>
      </dgm:t>
    </dgm:pt>
    <dgm:pt modelId="{EDB7E638-DBBE-4202-BB4E-E9FC002C6A45}" type="parTrans" cxnId="{4A092C76-0E11-4C20-B061-0082B5B451FF}">
      <dgm:prSet/>
      <dgm:spPr/>
      <dgm:t>
        <a:bodyPr/>
        <a:lstStyle/>
        <a:p>
          <a:endParaRPr lang="fr-FR"/>
        </a:p>
      </dgm:t>
    </dgm:pt>
    <dgm:pt modelId="{562396EB-B3D8-4C14-A108-47C52D0BD6BC}" type="sibTrans" cxnId="{4A092C76-0E11-4C20-B061-0082B5B451FF}">
      <dgm:prSet/>
      <dgm:spPr/>
      <dgm:t>
        <a:bodyPr/>
        <a:lstStyle/>
        <a:p>
          <a:endParaRPr lang="fr-FR"/>
        </a:p>
      </dgm:t>
    </dgm:pt>
    <dgm:pt modelId="{C34730FF-873E-43A3-8FE7-0D60D8759CDC}">
      <dgm:prSet phldrT="[Texte]"/>
      <dgm:spPr/>
      <dgm:t>
        <a:bodyPr/>
        <a:lstStyle/>
        <a:p>
          <a:r>
            <a:rPr lang="fr-FR" dirty="0"/>
            <a:t>Variable quantitative continue</a:t>
          </a:r>
        </a:p>
      </dgm:t>
    </dgm:pt>
    <dgm:pt modelId="{361FD618-5169-4D7C-BF7A-46962054D055}" type="parTrans" cxnId="{30543042-A7C2-4032-9097-55B7918FBAEF}">
      <dgm:prSet/>
      <dgm:spPr/>
      <dgm:t>
        <a:bodyPr/>
        <a:lstStyle/>
        <a:p>
          <a:endParaRPr lang="fr-FR"/>
        </a:p>
      </dgm:t>
    </dgm:pt>
    <dgm:pt modelId="{B4787416-6651-4895-AD47-5DE3A0E7655E}" type="sibTrans" cxnId="{30543042-A7C2-4032-9097-55B7918FBAEF}">
      <dgm:prSet/>
      <dgm:spPr/>
      <dgm:t>
        <a:bodyPr/>
        <a:lstStyle/>
        <a:p>
          <a:endParaRPr lang="fr-FR"/>
        </a:p>
      </dgm:t>
    </dgm:pt>
    <dgm:pt modelId="{60B10F42-84C6-4F2E-A0AA-678685B88C9A}">
      <dgm:prSet phldrT="[Texte]"/>
      <dgm:spPr/>
      <dgm:t>
        <a:bodyPr/>
        <a:lstStyle/>
        <a:p>
          <a:r>
            <a:rPr lang="fr-FR" b="1" u="sng" dirty="0"/>
            <a:t>Exemples</a:t>
          </a:r>
        </a:p>
        <a:p>
          <a:r>
            <a:rPr lang="fr-FR" dirty="0"/>
            <a:t>Age</a:t>
          </a:r>
        </a:p>
        <a:p>
          <a:r>
            <a:rPr lang="fr-FR" dirty="0"/>
            <a:t>Poids </a:t>
          </a:r>
        </a:p>
        <a:p>
          <a:r>
            <a:rPr lang="fr-FR" dirty="0"/>
            <a:t>Taille</a:t>
          </a:r>
        </a:p>
        <a:p>
          <a:endParaRPr lang="fr-FR" dirty="0"/>
        </a:p>
      </dgm:t>
    </dgm:pt>
    <dgm:pt modelId="{3FBADCE3-8C13-4193-A766-7F40557EA304}" type="parTrans" cxnId="{7AA94A79-B019-41E7-8CCB-07E1189688D5}">
      <dgm:prSet/>
      <dgm:spPr/>
      <dgm:t>
        <a:bodyPr/>
        <a:lstStyle/>
        <a:p>
          <a:endParaRPr lang="fr-FR"/>
        </a:p>
      </dgm:t>
    </dgm:pt>
    <dgm:pt modelId="{33390B57-DAB8-4F4A-B9EB-F57AC003DB6A}" type="sibTrans" cxnId="{7AA94A79-B019-41E7-8CCB-07E1189688D5}">
      <dgm:prSet/>
      <dgm:spPr/>
      <dgm:t>
        <a:bodyPr/>
        <a:lstStyle/>
        <a:p>
          <a:endParaRPr lang="fr-FR"/>
        </a:p>
      </dgm:t>
    </dgm:pt>
    <dgm:pt modelId="{71856992-DC04-41EE-BAEA-A8C0E280ACFD}" type="pres">
      <dgm:prSet presAssocID="{B5891563-7097-4E6A-804C-28D7D7A3E388}" presName="Name0" presStyleCnt="0">
        <dgm:presLayoutVars>
          <dgm:chPref val="1"/>
          <dgm:dir/>
          <dgm:animOne val="branch"/>
          <dgm:animLvl val="lvl"/>
          <dgm:resizeHandles/>
        </dgm:presLayoutVars>
      </dgm:prSet>
      <dgm:spPr/>
      <dgm:t>
        <a:bodyPr/>
        <a:lstStyle/>
        <a:p>
          <a:endParaRPr lang="fr-FR"/>
        </a:p>
      </dgm:t>
    </dgm:pt>
    <dgm:pt modelId="{F9A58852-C539-4139-B7AC-1EF4B5E752E5}" type="pres">
      <dgm:prSet presAssocID="{11FBD70C-2AA1-4045-AE34-9EBBC5C4579D}" presName="vertOne" presStyleCnt="0"/>
      <dgm:spPr/>
    </dgm:pt>
    <dgm:pt modelId="{73D44466-89CF-4393-BE6B-F614693E1181}" type="pres">
      <dgm:prSet presAssocID="{11FBD70C-2AA1-4045-AE34-9EBBC5C4579D}" presName="txOne" presStyleLbl="node0" presStyleIdx="0" presStyleCnt="1" custScaleY="20465">
        <dgm:presLayoutVars>
          <dgm:chPref val="3"/>
        </dgm:presLayoutVars>
      </dgm:prSet>
      <dgm:spPr/>
      <dgm:t>
        <a:bodyPr/>
        <a:lstStyle/>
        <a:p>
          <a:endParaRPr lang="fr-FR"/>
        </a:p>
      </dgm:t>
    </dgm:pt>
    <dgm:pt modelId="{39E860C9-5EF5-46ED-ACCD-3442CAD1A15E}" type="pres">
      <dgm:prSet presAssocID="{11FBD70C-2AA1-4045-AE34-9EBBC5C4579D}" presName="parTransOne" presStyleCnt="0"/>
      <dgm:spPr/>
    </dgm:pt>
    <dgm:pt modelId="{AB1BCBD5-D916-471D-B416-F48F00013FF0}" type="pres">
      <dgm:prSet presAssocID="{11FBD70C-2AA1-4045-AE34-9EBBC5C4579D}" presName="horzOne" presStyleCnt="0"/>
      <dgm:spPr/>
    </dgm:pt>
    <dgm:pt modelId="{97AB4FAD-8C4C-4C65-8E78-E419AD5C5D60}" type="pres">
      <dgm:prSet presAssocID="{28A33954-FE81-4E02-BF97-6E5F5F8A637A}" presName="vertTwo" presStyleCnt="0"/>
      <dgm:spPr/>
    </dgm:pt>
    <dgm:pt modelId="{B8BA2F74-0A8E-4CFB-A60A-AD748AE0765F}" type="pres">
      <dgm:prSet presAssocID="{28A33954-FE81-4E02-BF97-6E5F5F8A637A}" presName="txTwo" presStyleLbl="node2" presStyleIdx="0" presStyleCnt="2" custScaleY="23601" custLinFactNeighborY="-68486">
        <dgm:presLayoutVars>
          <dgm:chPref val="3"/>
        </dgm:presLayoutVars>
      </dgm:prSet>
      <dgm:spPr/>
      <dgm:t>
        <a:bodyPr/>
        <a:lstStyle/>
        <a:p>
          <a:endParaRPr lang="fr-FR"/>
        </a:p>
      </dgm:t>
    </dgm:pt>
    <dgm:pt modelId="{7859B11C-68DA-4543-A18B-27DD07FF69FE}" type="pres">
      <dgm:prSet presAssocID="{28A33954-FE81-4E02-BF97-6E5F5F8A637A}" presName="parTransTwo" presStyleCnt="0"/>
      <dgm:spPr/>
    </dgm:pt>
    <dgm:pt modelId="{F0B7EA59-87B2-480A-BB44-BDDB840BEDFB}" type="pres">
      <dgm:prSet presAssocID="{28A33954-FE81-4E02-BF97-6E5F5F8A637A}" presName="horzTwo" presStyleCnt="0"/>
      <dgm:spPr/>
    </dgm:pt>
    <dgm:pt modelId="{1C201CB7-33B0-4E1F-9201-4EEFB13D4E1E}" type="pres">
      <dgm:prSet presAssocID="{7BAF0A7F-AA6F-4548-9D4B-85B49260167F}" presName="vertThree" presStyleCnt="0"/>
      <dgm:spPr/>
    </dgm:pt>
    <dgm:pt modelId="{8B859772-87C8-4E13-8DDA-161FC4AFFEFD}" type="pres">
      <dgm:prSet presAssocID="{7BAF0A7F-AA6F-4548-9D4B-85B49260167F}" presName="txThree" presStyleLbl="node3" presStyleIdx="0" presStyleCnt="2" custScaleY="70139" custLinFactNeighborY="-9245">
        <dgm:presLayoutVars>
          <dgm:chPref val="3"/>
        </dgm:presLayoutVars>
      </dgm:prSet>
      <dgm:spPr/>
      <dgm:t>
        <a:bodyPr/>
        <a:lstStyle/>
        <a:p>
          <a:endParaRPr lang="fr-FR"/>
        </a:p>
      </dgm:t>
    </dgm:pt>
    <dgm:pt modelId="{1EEC8913-B4A5-438A-A638-98EFC7E5DCB5}" type="pres">
      <dgm:prSet presAssocID="{7BAF0A7F-AA6F-4548-9D4B-85B49260167F}" presName="horzThree" presStyleCnt="0"/>
      <dgm:spPr/>
    </dgm:pt>
    <dgm:pt modelId="{DD6642C2-39DC-4AEB-8E8A-3D9E4DEC426A}" type="pres">
      <dgm:prSet presAssocID="{84868BD6-EFB0-4FD1-A469-9515E5FF248B}" presName="sibSpaceTwo" presStyleCnt="0"/>
      <dgm:spPr/>
    </dgm:pt>
    <dgm:pt modelId="{E35985AE-F56B-4094-879C-013E82DE9A97}" type="pres">
      <dgm:prSet presAssocID="{C34730FF-873E-43A3-8FE7-0D60D8759CDC}" presName="vertTwo" presStyleCnt="0"/>
      <dgm:spPr/>
    </dgm:pt>
    <dgm:pt modelId="{AD94ABF7-7C82-48B3-8C20-FA70F724B19A}" type="pres">
      <dgm:prSet presAssocID="{C34730FF-873E-43A3-8FE7-0D60D8759CDC}" presName="txTwo" presStyleLbl="node2" presStyleIdx="1" presStyleCnt="2" custScaleY="20795" custLinFactNeighborY="-68486">
        <dgm:presLayoutVars>
          <dgm:chPref val="3"/>
        </dgm:presLayoutVars>
      </dgm:prSet>
      <dgm:spPr/>
      <dgm:t>
        <a:bodyPr/>
        <a:lstStyle/>
        <a:p>
          <a:endParaRPr lang="fr-FR"/>
        </a:p>
      </dgm:t>
    </dgm:pt>
    <dgm:pt modelId="{4046BA19-8F05-47C0-9434-B91336D05CB7}" type="pres">
      <dgm:prSet presAssocID="{C34730FF-873E-43A3-8FE7-0D60D8759CDC}" presName="parTransTwo" presStyleCnt="0"/>
      <dgm:spPr/>
    </dgm:pt>
    <dgm:pt modelId="{B6F8A3F6-D051-4247-8A12-7304951C8DC5}" type="pres">
      <dgm:prSet presAssocID="{C34730FF-873E-43A3-8FE7-0D60D8759CDC}" presName="horzTwo" presStyleCnt="0"/>
      <dgm:spPr/>
    </dgm:pt>
    <dgm:pt modelId="{176E41A7-5806-4FE6-BC0D-0B54D0F51954}" type="pres">
      <dgm:prSet presAssocID="{60B10F42-84C6-4F2E-A0AA-678685B88C9A}" presName="vertThree" presStyleCnt="0"/>
      <dgm:spPr/>
    </dgm:pt>
    <dgm:pt modelId="{86D17232-14DE-488E-A577-390F39A20DEB}" type="pres">
      <dgm:prSet presAssocID="{60B10F42-84C6-4F2E-A0AA-678685B88C9A}" presName="txThree" presStyleLbl="node3" presStyleIdx="1" presStyleCnt="2" custScaleY="72480" custLinFactNeighborY="-7786">
        <dgm:presLayoutVars>
          <dgm:chPref val="3"/>
        </dgm:presLayoutVars>
      </dgm:prSet>
      <dgm:spPr/>
      <dgm:t>
        <a:bodyPr/>
        <a:lstStyle/>
        <a:p>
          <a:endParaRPr lang="fr-FR"/>
        </a:p>
      </dgm:t>
    </dgm:pt>
    <dgm:pt modelId="{17D0E24C-7CD8-445F-A58E-FBE3F7CCAC69}" type="pres">
      <dgm:prSet presAssocID="{60B10F42-84C6-4F2E-A0AA-678685B88C9A}" presName="horzThree" presStyleCnt="0"/>
      <dgm:spPr/>
    </dgm:pt>
  </dgm:ptLst>
  <dgm:cxnLst>
    <dgm:cxn modelId="{3CBC5778-B71D-40C1-B2D1-0D1BF556B048}" srcId="{B5891563-7097-4E6A-804C-28D7D7A3E388}" destId="{11FBD70C-2AA1-4045-AE34-9EBBC5C4579D}" srcOrd="0" destOrd="0" parTransId="{70AEF06C-E4A8-4E55-9726-C92AF1AC7E65}" sibTransId="{13D95931-E821-4A05-811F-402363FA0A03}"/>
    <dgm:cxn modelId="{0B42AD2E-C32F-4982-A84C-335ADEA1E2E4}" type="presOf" srcId="{B5891563-7097-4E6A-804C-28D7D7A3E388}" destId="{71856992-DC04-41EE-BAEA-A8C0E280ACFD}" srcOrd="0" destOrd="0" presId="urn:microsoft.com/office/officeart/2005/8/layout/hierarchy4"/>
    <dgm:cxn modelId="{30543042-A7C2-4032-9097-55B7918FBAEF}" srcId="{11FBD70C-2AA1-4045-AE34-9EBBC5C4579D}" destId="{C34730FF-873E-43A3-8FE7-0D60D8759CDC}" srcOrd="1" destOrd="0" parTransId="{361FD618-5169-4D7C-BF7A-46962054D055}" sibTransId="{B4787416-6651-4895-AD47-5DE3A0E7655E}"/>
    <dgm:cxn modelId="{7AA94A79-B019-41E7-8CCB-07E1189688D5}" srcId="{C34730FF-873E-43A3-8FE7-0D60D8759CDC}" destId="{60B10F42-84C6-4F2E-A0AA-678685B88C9A}" srcOrd="0" destOrd="0" parTransId="{3FBADCE3-8C13-4193-A766-7F40557EA304}" sibTransId="{33390B57-DAB8-4F4A-B9EB-F57AC003DB6A}"/>
    <dgm:cxn modelId="{24B0A3EF-D67F-48A5-913E-3FCCED2B97ED}" type="presOf" srcId="{11FBD70C-2AA1-4045-AE34-9EBBC5C4579D}" destId="{73D44466-89CF-4393-BE6B-F614693E1181}" srcOrd="0" destOrd="0" presId="urn:microsoft.com/office/officeart/2005/8/layout/hierarchy4"/>
    <dgm:cxn modelId="{680360B8-68D4-411B-BADB-3A031B829C0F}" type="presOf" srcId="{C34730FF-873E-43A3-8FE7-0D60D8759CDC}" destId="{AD94ABF7-7C82-48B3-8C20-FA70F724B19A}" srcOrd="0" destOrd="0" presId="urn:microsoft.com/office/officeart/2005/8/layout/hierarchy4"/>
    <dgm:cxn modelId="{9F968BD0-2A96-434D-A58C-AEE5215F2C71}" srcId="{11FBD70C-2AA1-4045-AE34-9EBBC5C4579D}" destId="{28A33954-FE81-4E02-BF97-6E5F5F8A637A}" srcOrd="0" destOrd="0" parTransId="{5273D092-2A86-41D2-88C5-1E2C803AA3AE}" sibTransId="{84868BD6-EFB0-4FD1-A469-9515E5FF248B}"/>
    <dgm:cxn modelId="{4A092C76-0E11-4C20-B061-0082B5B451FF}" srcId="{28A33954-FE81-4E02-BF97-6E5F5F8A637A}" destId="{7BAF0A7F-AA6F-4548-9D4B-85B49260167F}" srcOrd="0" destOrd="0" parTransId="{EDB7E638-DBBE-4202-BB4E-E9FC002C6A45}" sibTransId="{562396EB-B3D8-4C14-A108-47C52D0BD6BC}"/>
    <dgm:cxn modelId="{C0A4BCD6-6669-4217-AA5A-A14A2FBB0CE5}" type="presOf" srcId="{60B10F42-84C6-4F2E-A0AA-678685B88C9A}" destId="{86D17232-14DE-488E-A577-390F39A20DEB}" srcOrd="0" destOrd="0" presId="urn:microsoft.com/office/officeart/2005/8/layout/hierarchy4"/>
    <dgm:cxn modelId="{064A9E3B-CA50-4AA2-85AE-ADA97F77660E}" type="presOf" srcId="{7BAF0A7F-AA6F-4548-9D4B-85B49260167F}" destId="{8B859772-87C8-4E13-8DDA-161FC4AFFEFD}" srcOrd="0" destOrd="0" presId="urn:microsoft.com/office/officeart/2005/8/layout/hierarchy4"/>
    <dgm:cxn modelId="{88935C20-9C81-4B3F-8ED2-2BE0D07AFACD}" type="presOf" srcId="{28A33954-FE81-4E02-BF97-6E5F5F8A637A}" destId="{B8BA2F74-0A8E-4CFB-A60A-AD748AE0765F}" srcOrd="0" destOrd="0" presId="urn:microsoft.com/office/officeart/2005/8/layout/hierarchy4"/>
    <dgm:cxn modelId="{F846CC9E-13BC-44CB-8B2E-722F20B73763}" type="presParOf" srcId="{71856992-DC04-41EE-BAEA-A8C0E280ACFD}" destId="{F9A58852-C539-4139-B7AC-1EF4B5E752E5}" srcOrd="0" destOrd="0" presId="urn:microsoft.com/office/officeart/2005/8/layout/hierarchy4"/>
    <dgm:cxn modelId="{0BCCF389-B295-4047-A1FA-610CED7591AF}" type="presParOf" srcId="{F9A58852-C539-4139-B7AC-1EF4B5E752E5}" destId="{73D44466-89CF-4393-BE6B-F614693E1181}" srcOrd="0" destOrd="0" presId="urn:microsoft.com/office/officeart/2005/8/layout/hierarchy4"/>
    <dgm:cxn modelId="{5C14B557-6367-493E-9302-9382AFABF13F}" type="presParOf" srcId="{F9A58852-C539-4139-B7AC-1EF4B5E752E5}" destId="{39E860C9-5EF5-46ED-ACCD-3442CAD1A15E}" srcOrd="1" destOrd="0" presId="urn:microsoft.com/office/officeart/2005/8/layout/hierarchy4"/>
    <dgm:cxn modelId="{3C238FB6-7D50-4BB7-8619-1EFA21A43A41}" type="presParOf" srcId="{F9A58852-C539-4139-B7AC-1EF4B5E752E5}" destId="{AB1BCBD5-D916-471D-B416-F48F00013FF0}" srcOrd="2" destOrd="0" presId="urn:microsoft.com/office/officeart/2005/8/layout/hierarchy4"/>
    <dgm:cxn modelId="{1EBEE17D-8EEF-42FD-979F-A43CF6A52519}" type="presParOf" srcId="{AB1BCBD5-D916-471D-B416-F48F00013FF0}" destId="{97AB4FAD-8C4C-4C65-8E78-E419AD5C5D60}" srcOrd="0" destOrd="0" presId="urn:microsoft.com/office/officeart/2005/8/layout/hierarchy4"/>
    <dgm:cxn modelId="{3C2C7F72-0321-4D57-A41C-B633A79B95B4}" type="presParOf" srcId="{97AB4FAD-8C4C-4C65-8E78-E419AD5C5D60}" destId="{B8BA2F74-0A8E-4CFB-A60A-AD748AE0765F}" srcOrd="0" destOrd="0" presId="urn:microsoft.com/office/officeart/2005/8/layout/hierarchy4"/>
    <dgm:cxn modelId="{24693156-5249-46F3-ACC0-496D7784419E}" type="presParOf" srcId="{97AB4FAD-8C4C-4C65-8E78-E419AD5C5D60}" destId="{7859B11C-68DA-4543-A18B-27DD07FF69FE}" srcOrd="1" destOrd="0" presId="urn:microsoft.com/office/officeart/2005/8/layout/hierarchy4"/>
    <dgm:cxn modelId="{66397DC7-B2C5-4919-BAF9-9A99087162E3}" type="presParOf" srcId="{97AB4FAD-8C4C-4C65-8E78-E419AD5C5D60}" destId="{F0B7EA59-87B2-480A-BB44-BDDB840BEDFB}" srcOrd="2" destOrd="0" presId="urn:microsoft.com/office/officeart/2005/8/layout/hierarchy4"/>
    <dgm:cxn modelId="{130CF6BB-D469-45E5-9DEF-B1F37F04CE89}" type="presParOf" srcId="{F0B7EA59-87B2-480A-BB44-BDDB840BEDFB}" destId="{1C201CB7-33B0-4E1F-9201-4EEFB13D4E1E}" srcOrd="0" destOrd="0" presId="urn:microsoft.com/office/officeart/2005/8/layout/hierarchy4"/>
    <dgm:cxn modelId="{FE221FAC-3C5A-48E2-BC49-81D512CA33DA}" type="presParOf" srcId="{1C201CB7-33B0-4E1F-9201-4EEFB13D4E1E}" destId="{8B859772-87C8-4E13-8DDA-161FC4AFFEFD}" srcOrd="0" destOrd="0" presId="urn:microsoft.com/office/officeart/2005/8/layout/hierarchy4"/>
    <dgm:cxn modelId="{1A97684F-21F7-4059-9671-EC61623AF2AC}" type="presParOf" srcId="{1C201CB7-33B0-4E1F-9201-4EEFB13D4E1E}" destId="{1EEC8913-B4A5-438A-A638-98EFC7E5DCB5}" srcOrd="1" destOrd="0" presId="urn:microsoft.com/office/officeart/2005/8/layout/hierarchy4"/>
    <dgm:cxn modelId="{D77DF347-B175-49CF-BD9E-C4241361FA66}" type="presParOf" srcId="{AB1BCBD5-D916-471D-B416-F48F00013FF0}" destId="{DD6642C2-39DC-4AEB-8E8A-3D9E4DEC426A}" srcOrd="1" destOrd="0" presId="urn:microsoft.com/office/officeart/2005/8/layout/hierarchy4"/>
    <dgm:cxn modelId="{ACE9A891-8A1E-4242-BCB3-82E6D1D4D22C}" type="presParOf" srcId="{AB1BCBD5-D916-471D-B416-F48F00013FF0}" destId="{E35985AE-F56B-4094-879C-013E82DE9A97}" srcOrd="2" destOrd="0" presId="urn:microsoft.com/office/officeart/2005/8/layout/hierarchy4"/>
    <dgm:cxn modelId="{6DBD22B2-B2CD-42FB-A3DD-4C209BCD1861}" type="presParOf" srcId="{E35985AE-F56B-4094-879C-013E82DE9A97}" destId="{AD94ABF7-7C82-48B3-8C20-FA70F724B19A}" srcOrd="0" destOrd="0" presId="urn:microsoft.com/office/officeart/2005/8/layout/hierarchy4"/>
    <dgm:cxn modelId="{AAC8300B-B14D-4D6F-8723-834B92221E2B}" type="presParOf" srcId="{E35985AE-F56B-4094-879C-013E82DE9A97}" destId="{4046BA19-8F05-47C0-9434-B91336D05CB7}" srcOrd="1" destOrd="0" presId="urn:microsoft.com/office/officeart/2005/8/layout/hierarchy4"/>
    <dgm:cxn modelId="{310026E9-012C-4937-990A-336991F5F53A}" type="presParOf" srcId="{E35985AE-F56B-4094-879C-013E82DE9A97}" destId="{B6F8A3F6-D051-4247-8A12-7304951C8DC5}" srcOrd="2" destOrd="0" presId="urn:microsoft.com/office/officeart/2005/8/layout/hierarchy4"/>
    <dgm:cxn modelId="{0359311B-C018-4DFD-8176-85CD4A9FE4AE}" type="presParOf" srcId="{B6F8A3F6-D051-4247-8A12-7304951C8DC5}" destId="{176E41A7-5806-4FE6-BC0D-0B54D0F51954}" srcOrd="0" destOrd="0" presId="urn:microsoft.com/office/officeart/2005/8/layout/hierarchy4"/>
    <dgm:cxn modelId="{53E9CE08-3DB3-40EF-9C99-972DDE2244E8}" type="presParOf" srcId="{176E41A7-5806-4FE6-BC0D-0B54D0F51954}" destId="{86D17232-14DE-488E-A577-390F39A20DEB}" srcOrd="0" destOrd="0" presId="urn:microsoft.com/office/officeart/2005/8/layout/hierarchy4"/>
    <dgm:cxn modelId="{1129B406-CFA0-49EC-9E46-A92173694B7D}" type="presParOf" srcId="{176E41A7-5806-4FE6-BC0D-0B54D0F51954}" destId="{17D0E24C-7CD8-445F-A58E-FBE3F7CCAC69}"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85EF1-C23D-4788-82D0-61F8A1945A2A}">
      <dsp:nvSpPr>
        <dsp:cNvPr id="0" name=""/>
        <dsp:cNvSpPr/>
      </dsp:nvSpPr>
      <dsp:spPr>
        <a:xfrm>
          <a:off x="1970" y="917"/>
          <a:ext cx="9140058" cy="793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lvl="0" algn="ctr" defTabSz="1511300">
            <a:lnSpc>
              <a:spcPct val="90000"/>
            </a:lnSpc>
            <a:spcBef>
              <a:spcPct val="0"/>
            </a:spcBef>
            <a:spcAft>
              <a:spcPct val="35000"/>
            </a:spcAft>
          </a:pPr>
          <a:r>
            <a:rPr lang="fr-FR" sz="3400" kern="1200" dirty="0"/>
            <a:t>Variable qualitative</a:t>
          </a:r>
        </a:p>
      </dsp:txBody>
      <dsp:txXfrm>
        <a:off x="25208" y="24155"/>
        <a:ext cx="9093582" cy="746915"/>
      </dsp:txXfrm>
    </dsp:sp>
    <dsp:sp modelId="{B68F5DF1-6ECD-46F6-A0D3-0CEC560CC82C}">
      <dsp:nvSpPr>
        <dsp:cNvPr id="0" name=""/>
        <dsp:cNvSpPr/>
      </dsp:nvSpPr>
      <dsp:spPr>
        <a:xfrm>
          <a:off x="0" y="908720"/>
          <a:ext cx="3891319" cy="7502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a:t>Variable qualitative nominale</a:t>
          </a:r>
        </a:p>
      </dsp:txBody>
      <dsp:txXfrm>
        <a:off x="21974" y="930694"/>
        <a:ext cx="3847371" cy="706283"/>
      </dsp:txXfrm>
    </dsp:sp>
    <dsp:sp modelId="{9E8F1C0C-E2B9-46C1-B0B9-465B945B867A}">
      <dsp:nvSpPr>
        <dsp:cNvPr id="0" name=""/>
        <dsp:cNvSpPr/>
      </dsp:nvSpPr>
      <dsp:spPr>
        <a:xfrm>
          <a:off x="47801" y="1772801"/>
          <a:ext cx="3876141" cy="462625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endParaRPr lang="fr-FR" sz="1900" kern="1200" dirty="0"/>
        </a:p>
      </dsp:txBody>
      <dsp:txXfrm>
        <a:off x="161329" y="1886329"/>
        <a:ext cx="3649085" cy="4399201"/>
      </dsp:txXfrm>
    </dsp:sp>
    <dsp:sp modelId="{0841DDE4-9387-425E-824B-A73050130F7F}">
      <dsp:nvSpPr>
        <dsp:cNvPr id="0" name=""/>
        <dsp:cNvSpPr/>
      </dsp:nvSpPr>
      <dsp:spPr>
        <a:xfrm>
          <a:off x="4238009" y="886945"/>
          <a:ext cx="4905990" cy="8138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fr-FR" sz="2400" kern="1200" dirty="0"/>
            <a:t>Variable qualitative ordinale</a:t>
          </a:r>
        </a:p>
      </dsp:txBody>
      <dsp:txXfrm>
        <a:off x="4261846" y="910782"/>
        <a:ext cx="4858316" cy="766189"/>
      </dsp:txXfrm>
    </dsp:sp>
    <dsp:sp modelId="{512461DE-D3FF-43F8-BC50-7FDB149A2686}">
      <dsp:nvSpPr>
        <dsp:cNvPr id="0" name=""/>
        <dsp:cNvSpPr/>
      </dsp:nvSpPr>
      <dsp:spPr>
        <a:xfrm>
          <a:off x="4211949" y="1746484"/>
          <a:ext cx="4886854" cy="470684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endParaRPr lang="fr-FR" sz="2000" b="1" kern="1200" dirty="0"/>
        </a:p>
        <a:p>
          <a:pPr lvl="0" algn="ctr" defTabSz="889000">
            <a:lnSpc>
              <a:spcPct val="90000"/>
            </a:lnSpc>
            <a:spcBef>
              <a:spcPct val="0"/>
            </a:spcBef>
            <a:spcAft>
              <a:spcPct val="35000"/>
            </a:spcAft>
          </a:pPr>
          <a:endParaRPr lang="fr-FR" sz="2000" b="1" kern="1200" dirty="0"/>
        </a:p>
        <a:p>
          <a:pPr lvl="0" algn="ctr" defTabSz="889000">
            <a:lnSpc>
              <a:spcPct val="90000"/>
            </a:lnSpc>
            <a:spcBef>
              <a:spcPct val="0"/>
            </a:spcBef>
            <a:spcAft>
              <a:spcPct val="35000"/>
            </a:spcAft>
          </a:pPr>
          <a:endParaRPr lang="fr-FR" sz="2000" b="1" kern="1200" dirty="0"/>
        </a:p>
        <a:p>
          <a:pPr lvl="0" algn="ctr" defTabSz="889000">
            <a:lnSpc>
              <a:spcPct val="90000"/>
            </a:lnSpc>
            <a:spcBef>
              <a:spcPct val="0"/>
            </a:spcBef>
            <a:spcAft>
              <a:spcPct val="35000"/>
            </a:spcAft>
          </a:pPr>
          <a:endParaRPr lang="fr-FR" sz="2000" b="1" kern="1200" dirty="0"/>
        </a:p>
        <a:p>
          <a:pPr lvl="0" algn="ctr" defTabSz="889000">
            <a:lnSpc>
              <a:spcPct val="90000"/>
            </a:lnSpc>
            <a:spcBef>
              <a:spcPct val="0"/>
            </a:spcBef>
            <a:spcAft>
              <a:spcPct val="35000"/>
            </a:spcAft>
          </a:pPr>
          <a:endParaRPr lang="fr-FR" sz="2000" b="1" kern="1200" dirty="0"/>
        </a:p>
        <a:p>
          <a:pPr lvl="0" algn="ctr" defTabSz="889000">
            <a:lnSpc>
              <a:spcPct val="90000"/>
            </a:lnSpc>
            <a:spcBef>
              <a:spcPct val="0"/>
            </a:spcBef>
            <a:spcAft>
              <a:spcPct val="35000"/>
            </a:spcAft>
          </a:pPr>
          <a:endParaRPr lang="fr-FR" sz="2000" b="1" kern="1200" dirty="0"/>
        </a:p>
        <a:p>
          <a:pPr lvl="0" algn="ctr" defTabSz="889000">
            <a:lnSpc>
              <a:spcPct val="90000"/>
            </a:lnSpc>
            <a:spcBef>
              <a:spcPct val="0"/>
            </a:spcBef>
            <a:spcAft>
              <a:spcPct val="35000"/>
            </a:spcAft>
          </a:pPr>
          <a:endParaRPr lang="fr-FR" sz="2000" b="1" kern="1200" dirty="0"/>
        </a:p>
      </dsp:txBody>
      <dsp:txXfrm>
        <a:off x="4349808" y="1884343"/>
        <a:ext cx="4611136" cy="44311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44466-89CF-4393-BE6B-F614693E1181}">
      <dsp:nvSpPr>
        <dsp:cNvPr id="0" name=""/>
        <dsp:cNvSpPr/>
      </dsp:nvSpPr>
      <dsp:spPr>
        <a:xfrm>
          <a:off x="3375" y="4100"/>
          <a:ext cx="9137249" cy="1085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ctr" defTabSz="2089150">
            <a:lnSpc>
              <a:spcPct val="90000"/>
            </a:lnSpc>
            <a:spcBef>
              <a:spcPct val="0"/>
            </a:spcBef>
            <a:spcAft>
              <a:spcPct val="35000"/>
            </a:spcAft>
          </a:pPr>
          <a:r>
            <a:rPr lang="fr-FR" sz="4700" kern="1200" dirty="0"/>
            <a:t>Variable quantitative</a:t>
          </a:r>
        </a:p>
      </dsp:txBody>
      <dsp:txXfrm>
        <a:off x="35169" y="35894"/>
        <a:ext cx="9073661" cy="1021923"/>
      </dsp:txXfrm>
    </dsp:sp>
    <dsp:sp modelId="{B8BA2F74-0A8E-4CFB-A60A-AD748AE0765F}">
      <dsp:nvSpPr>
        <dsp:cNvPr id="0" name=""/>
        <dsp:cNvSpPr/>
      </dsp:nvSpPr>
      <dsp:spPr>
        <a:xfrm>
          <a:off x="12294" y="1214422"/>
          <a:ext cx="4375917" cy="125185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fr-FR" sz="2900" kern="1200" dirty="0"/>
            <a:t>Variable quantitative discrète</a:t>
          </a:r>
        </a:p>
      </dsp:txBody>
      <dsp:txXfrm>
        <a:off x="48959" y="1251087"/>
        <a:ext cx="4302587" cy="1178522"/>
      </dsp:txXfrm>
    </dsp:sp>
    <dsp:sp modelId="{8B859772-87C8-4E13-8DDA-161FC4AFFEFD}">
      <dsp:nvSpPr>
        <dsp:cNvPr id="0" name=""/>
        <dsp:cNvSpPr/>
      </dsp:nvSpPr>
      <dsp:spPr>
        <a:xfrm>
          <a:off x="12294" y="2643186"/>
          <a:ext cx="4375917" cy="372033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fr-FR" sz="2700" b="1" u="sng" kern="1200" dirty="0"/>
            <a:t>Exemples </a:t>
          </a:r>
        </a:p>
        <a:p>
          <a:pPr lvl="0" algn="ctr" defTabSz="1200150">
            <a:lnSpc>
              <a:spcPct val="90000"/>
            </a:lnSpc>
            <a:spcBef>
              <a:spcPct val="0"/>
            </a:spcBef>
            <a:spcAft>
              <a:spcPct val="35000"/>
            </a:spcAft>
          </a:pPr>
          <a:r>
            <a:rPr lang="fr-FR" sz="2700" kern="1200" dirty="0"/>
            <a:t>Nombre d’enfant par famille</a:t>
          </a:r>
        </a:p>
        <a:p>
          <a:pPr lvl="0" algn="ctr" defTabSz="1200150">
            <a:lnSpc>
              <a:spcPct val="90000"/>
            </a:lnSpc>
            <a:spcBef>
              <a:spcPct val="0"/>
            </a:spcBef>
            <a:spcAft>
              <a:spcPct val="35000"/>
            </a:spcAft>
          </a:pPr>
          <a:r>
            <a:rPr lang="fr-FR" sz="2700" kern="1200" dirty="0"/>
            <a:t>La note à un contrôle</a:t>
          </a:r>
        </a:p>
        <a:p>
          <a:pPr lvl="0" algn="ctr" defTabSz="1200150">
            <a:lnSpc>
              <a:spcPct val="90000"/>
            </a:lnSpc>
            <a:spcBef>
              <a:spcPct val="0"/>
            </a:spcBef>
            <a:spcAft>
              <a:spcPct val="35000"/>
            </a:spcAft>
          </a:pPr>
          <a:endParaRPr lang="fr-FR" sz="2700" kern="1200" dirty="0"/>
        </a:p>
        <a:p>
          <a:pPr lvl="0" algn="ctr" defTabSz="1200150">
            <a:lnSpc>
              <a:spcPct val="90000"/>
            </a:lnSpc>
            <a:spcBef>
              <a:spcPct val="0"/>
            </a:spcBef>
            <a:spcAft>
              <a:spcPct val="35000"/>
            </a:spcAft>
          </a:pPr>
          <a:endParaRPr lang="fr-FR" sz="2700" kern="1200" dirty="0"/>
        </a:p>
        <a:p>
          <a:pPr lvl="0" algn="ctr" defTabSz="1200150">
            <a:lnSpc>
              <a:spcPct val="90000"/>
            </a:lnSpc>
            <a:spcBef>
              <a:spcPct val="0"/>
            </a:spcBef>
            <a:spcAft>
              <a:spcPct val="35000"/>
            </a:spcAft>
          </a:pPr>
          <a:endParaRPr lang="fr-FR" sz="2700" kern="1200" dirty="0"/>
        </a:p>
      </dsp:txBody>
      <dsp:txXfrm>
        <a:off x="121259" y="2752151"/>
        <a:ext cx="4157987" cy="3502406"/>
      </dsp:txXfrm>
    </dsp:sp>
    <dsp:sp modelId="{AD94ABF7-7C82-48B3-8C20-FA70F724B19A}">
      <dsp:nvSpPr>
        <dsp:cNvPr id="0" name=""/>
        <dsp:cNvSpPr/>
      </dsp:nvSpPr>
      <dsp:spPr>
        <a:xfrm>
          <a:off x="4755788" y="1214422"/>
          <a:ext cx="4375917" cy="11030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fr-FR" sz="2900" kern="1200" dirty="0"/>
            <a:t>Variable quantitative continue</a:t>
          </a:r>
        </a:p>
      </dsp:txBody>
      <dsp:txXfrm>
        <a:off x="4788094" y="1246728"/>
        <a:ext cx="4311305" cy="1038403"/>
      </dsp:txXfrm>
    </dsp:sp>
    <dsp:sp modelId="{86D17232-14DE-488E-A577-390F39A20DEB}">
      <dsp:nvSpPr>
        <dsp:cNvPr id="0" name=""/>
        <dsp:cNvSpPr/>
      </dsp:nvSpPr>
      <dsp:spPr>
        <a:xfrm>
          <a:off x="4755788" y="2571738"/>
          <a:ext cx="4375917" cy="384450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fr-FR" sz="2700" b="1" u="sng" kern="1200" dirty="0"/>
            <a:t>Exemples</a:t>
          </a:r>
        </a:p>
        <a:p>
          <a:pPr lvl="0" algn="ctr" defTabSz="1200150">
            <a:lnSpc>
              <a:spcPct val="90000"/>
            </a:lnSpc>
            <a:spcBef>
              <a:spcPct val="0"/>
            </a:spcBef>
            <a:spcAft>
              <a:spcPct val="35000"/>
            </a:spcAft>
          </a:pPr>
          <a:r>
            <a:rPr lang="fr-FR" sz="2700" kern="1200" dirty="0"/>
            <a:t>Age</a:t>
          </a:r>
        </a:p>
        <a:p>
          <a:pPr lvl="0" algn="ctr" defTabSz="1200150">
            <a:lnSpc>
              <a:spcPct val="90000"/>
            </a:lnSpc>
            <a:spcBef>
              <a:spcPct val="0"/>
            </a:spcBef>
            <a:spcAft>
              <a:spcPct val="35000"/>
            </a:spcAft>
          </a:pPr>
          <a:r>
            <a:rPr lang="fr-FR" sz="2700" kern="1200" dirty="0"/>
            <a:t>Poids </a:t>
          </a:r>
        </a:p>
        <a:p>
          <a:pPr lvl="0" algn="ctr" defTabSz="1200150">
            <a:lnSpc>
              <a:spcPct val="90000"/>
            </a:lnSpc>
            <a:spcBef>
              <a:spcPct val="0"/>
            </a:spcBef>
            <a:spcAft>
              <a:spcPct val="35000"/>
            </a:spcAft>
          </a:pPr>
          <a:r>
            <a:rPr lang="fr-FR" sz="2700" kern="1200" dirty="0"/>
            <a:t>Taille</a:t>
          </a:r>
        </a:p>
        <a:p>
          <a:pPr lvl="0" algn="ctr" defTabSz="1200150">
            <a:lnSpc>
              <a:spcPct val="90000"/>
            </a:lnSpc>
            <a:spcBef>
              <a:spcPct val="0"/>
            </a:spcBef>
            <a:spcAft>
              <a:spcPct val="35000"/>
            </a:spcAft>
          </a:pPr>
          <a:endParaRPr lang="fr-FR" sz="2700" kern="1200" dirty="0"/>
        </a:p>
      </dsp:txBody>
      <dsp:txXfrm>
        <a:off x="4868390" y="2684340"/>
        <a:ext cx="4150713" cy="361930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5511CE-8433-4D71-8151-3C0D7B8D3553}" type="datetimeFigureOut">
              <a:rPr lang="fr-FR" smtClean="0"/>
              <a:pPr/>
              <a:t>23/02/2026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95D9152-B6EF-4FD0-A2A3-9E3CAFD5E9CE}" type="slidenum">
              <a:rPr lang="fr-FR" smtClean="0"/>
              <a:pPr/>
              <a:t>‹N°›</a:t>
            </a:fld>
            <a:endParaRPr lang="fr-FR"/>
          </a:p>
        </p:txBody>
      </p:sp>
    </p:spTree>
    <p:extLst>
      <p:ext uri="{BB962C8B-B14F-4D97-AF65-F5344CB8AC3E}">
        <p14:creationId xmlns:p14="http://schemas.microsoft.com/office/powerpoint/2010/main" val="2876739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p:txBody>
          <a:bodyPr/>
          <a:lstStyle/>
          <a:p>
            <a:fld id="{895D9152-B6EF-4FD0-A2A3-9E3CAFD5E9CE}" type="slidenum">
              <a:rPr lang="fr-FR" smtClean="0"/>
              <a:pPr/>
              <a:t>1</a:t>
            </a:fld>
            <a:endParaRPr lang="fr-FR"/>
          </a:p>
        </p:txBody>
      </p:sp>
    </p:spTree>
    <p:extLst>
      <p:ext uri="{BB962C8B-B14F-4D97-AF65-F5344CB8AC3E}">
        <p14:creationId xmlns:p14="http://schemas.microsoft.com/office/powerpoint/2010/main" val="3239126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99B263B-8638-40E4-B41B-DC059ECA3DEA}" type="datetime1">
              <a:rPr lang="fr-FR" smtClean="0"/>
              <a:t>23/02/2026</a:t>
            </a:fld>
            <a:endParaRPr lang="fr-FR"/>
          </a:p>
        </p:txBody>
      </p:sp>
      <p:sp>
        <p:nvSpPr>
          <p:cNvPr id="5" name="Espace réservé du pied de page 4"/>
          <p:cNvSpPr>
            <a:spLocks noGrp="1"/>
          </p:cNvSpPr>
          <p:nvPr>
            <p:ph type="ftr" sz="quarter" idx="11"/>
          </p:nvPr>
        </p:nvSpPr>
        <p:spPr/>
        <p:txBody>
          <a:bodyPr/>
          <a:lstStyle/>
          <a:p>
            <a:r>
              <a:rPr lang="fr-FR"/>
              <a:t>Introduction à la Statistique descriptive</a:t>
            </a:r>
          </a:p>
        </p:txBody>
      </p:sp>
      <p:sp>
        <p:nvSpPr>
          <p:cNvPr id="6" name="Espace réservé du numéro de diapositive 5"/>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271B41FD-FACE-41F9-BC59-22CDCB50DD78}" type="datetime1">
              <a:rPr lang="fr-FR" smtClean="0"/>
              <a:t>23/02/2026</a:t>
            </a:fld>
            <a:endParaRPr lang="fr-FR"/>
          </a:p>
        </p:txBody>
      </p:sp>
      <p:sp>
        <p:nvSpPr>
          <p:cNvPr id="5" name="Espace réservé du pied de page 4"/>
          <p:cNvSpPr>
            <a:spLocks noGrp="1"/>
          </p:cNvSpPr>
          <p:nvPr>
            <p:ph type="ftr" sz="quarter" idx="11"/>
          </p:nvPr>
        </p:nvSpPr>
        <p:spPr/>
        <p:txBody>
          <a:bodyPr/>
          <a:lstStyle/>
          <a:p>
            <a:r>
              <a:rPr lang="fr-FR"/>
              <a:t>Introduction à la Statistique descriptive</a:t>
            </a:r>
          </a:p>
        </p:txBody>
      </p:sp>
      <p:sp>
        <p:nvSpPr>
          <p:cNvPr id="6" name="Espace réservé du numéro de diapositive 5"/>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78176273-E29F-466D-A23C-DEC85BD43368}" type="datetime1">
              <a:rPr lang="fr-FR" smtClean="0"/>
              <a:t>23/02/2026</a:t>
            </a:fld>
            <a:endParaRPr lang="fr-FR"/>
          </a:p>
        </p:txBody>
      </p:sp>
      <p:sp>
        <p:nvSpPr>
          <p:cNvPr id="5" name="Espace réservé du pied de page 4"/>
          <p:cNvSpPr>
            <a:spLocks noGrp="1"/>
          </p:cNvSpPr>
          <p:nvPr>
            <p:ph type="ftr" sz="quarter" idx="11"/>
          </p:nvPr>
        </p:nvSpPr>
        <p:spPr/>
        <p:txBody>
          <a:bodyPr/>
          <a:lstStyle/>
          <a:p>
            <a:r>
              <a:rPr lang="fr-FR"/>
              <a:t>Introduction à la Statistique descriptive</a:t>
            </a:r>
          </a:p>
        </p:txBody>
      </p:sp>
      <p:sp>
        <p:nvSpPr>
          <p:cNvPr id="6" name="Espace réservé du numéro de diapositive 5"/>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232679DE-1B82-4761-AADB-6A41480D6A2F}" type="datetime1">
              <a:rPr lang="fr-FR" smtClean="0"/>
              <a:t>23/02/2026</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
        <p:nvSpPr>
          <p:cNvPr id="7" name="Espace réservé du numéro de diapositive 6"/>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AB96E729-D4AD-4BAE-903A-22EA161C3221}" type="datetime1">
              <a:rPr lang="fr-FR" smtClean="0"/>
              <a:t>23/02/2026</a:t>
            </a:fld>
            <a:endParaRPr lang="fr-FR"/>
          </a:p>
        </p:txBody>
      </p:sp>
      <p:sp>
        <p:nvSpPr>
          <p:cNvPr id="8" name="Espace réservé du pied de page 7"/>
          <p:cNvSpPr>
            <a:spLocks noGrp="1"/>
          </p:cNvSpPr>
          <p:nvPr>
            <p:ph type="ftr" sz="quarter" idx="11"/>
          </p:nvPr>
        </p:nvSpPr>
        <p:spPr/>
        <p:txBody>
          <a:bodyPr/>
          <a:lstStyle/>
          <a:p>
            <a:r>
              <a:rPr lang="fr-FR"/>
              <a:t>Introduction à la Statistique descriptive</a:t>
            </a:r>
          </a:p>
        </p:txBody>
      </p:sp>
      <p:sp>
        <p:nvSpPr>
          <p:cNvPr id="9" name="Espace réservé du numéro de diapositive 8"/>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1B78D1ED-154B-4658-BC28-0C0F31B02EFE}" type="datetime1">
              <a:rPr lang="fr-FR" smtClean="0"/>
              <a:t>23/02/2026</a:t>
            </a:fld>
            <a:endParaRPr lang="fr-FR"/>
          </a:p>
        </p:txBody>
      </p:sp>
      <p:sp>
        <p:nvSpPr>
          <p:cNvPr id="4" name="Espace réservé du pied de page 3"/>
          <p:cNvSpPr>
            <a:spLocks noGrp="1"/>
          </p:cNvSpPr>
          <p:nvPr>
            <p:ph type="ftr" sz="quarter" idx="11"/>
          </p:nvPr>
        </p:nvSpPr>
        <p:spPr/>
        <p:txBody>
          <a:bodyPr/>
          <a:lstStyle/>
          <a:p>
            <a:r>
              <a:rPr lang="fr-FR"/>
              <a:t>Introduction à la Statistique descriptive</a:t>
            </a: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D24F75C-C17D-4B91-8CB9-6D2FA532EF9F}" type="datetime1">
              <a:rPr lang="fr-FR" smtClean="0"/>
              <a:t>23/02/2026</a:t>
            </a:fld>
            <a:endParaRPr lang="fr-FR"/>
          </a:p>
        </p:txBody>
      </p:sp>
      <p:sp>
        <p:nvSpPr>
          <p:cNvPr id="3" name="Espace réservé du pied de page 2"/>
          <p:cNvSpPr>
            <a:spLocks noGrp="1"/>
          </p:cNvSpPr>
          <p:nvPr>
            <p:ph type="ftr" sz="quarter" idx="11"/>
          </p:nvPr>
        </p:nvSpPr>
        <p:spPr/>
        <p:txBody>
          <a:bodyPr/>
          <a:lstStyle/>
          <a:p>
            <a:r>
              <a:rPr lang="fr-FR"/>
              <a:t>Introduction à la Statistique descriptive</a:t>
            </a:r>
          </a:p>
        </p:txBody>
      </p:sp>
      <p:sp>
        <p:nvSpPr>
          <p:cNvPr id="4" name="Espace réservé du numéro de diapositive 3"/>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17DB6776-A07F-4D78-8555-D6E37A4D5CAE}" type="datetime1">
              <a:rPr lang="fr-FR" smtClean="0"/>
              <a:t>23/02/2026</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
        <p:nvSpPr>
          <p:cNvPr id="7" name="Espace réservé du numéro de diapositive 6"/>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86E9DC7F-2005-418E-976D-BBA8293892D6}" type="datetime1">
              <a:rPr lang="fr-FR" smtClean="0"/>
              <a:t>23/02/2026</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
        <p:nvSpPr>
          <p:cNvPr id="7" name="Espace réservé du numéro de diapositive 6"/>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D343707-F8BE-4260-8FCE-AEEA98A21D02}" type="datetime1">
              <a:rPr lang="fr-FR" smtClean="0"/>
              <a:t>23/02/2026</a:t>
            </a:fld>
            <a:endParaRPr lang="fr-FR"/>
          </a:p>
        </p:txBody>
      </p:sp>
      <p:sp>
        <p:nvSpPr>
          <p:cNvPr id="5" name="Espace réservé du pied de page 4"/>
          <p:cNvSpPr>
            <a:spLocks noGrp="1"/>
          </p:cNvSpPr>
          <p:nvPr>
            <p:ph type="ftr" sz="quarter" idx="11"/>
          </p:nvPr>
        </p:nvSpPr>
        <p:spPr/>
        <p:txBody>
          <a:bodyPr/>
          <a:lstStyle/>
          <a:p>
            <a:r>
              <a:rPr lang="fr-FR"/>
              <a:t>Introduction à la Statistique descriptive</a:t>
            </a:r>
          </a:p>
        </p:txBody>
      </p:sp>
      <p:sp>
        <p:nvSpPr>
          <p:cNvPr id="6" name="Espace réservé du numéro de diapositive 5"/>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CBC6B25-ACDA-45D8-8D4E-AE13459CA307}" type="datetime1">
              <a:rPr lang="fr-FR" smtClean="0"/>
              <a:t>23/02/2026</a:t>
            </a:fld>
            <a:endParaRPr lang="fr-FR"/>
          </a:p>
        </p:txBody>
      </p:sp>
      <p:sp>
        <p:nvSpPr>
          <p:cNvPr id="5" name="Espace réservé du pied de page 4"/>
          <p:cNvSpPr>
            <a:spLocks noGrp="1"/>
          </p:cNvSpPr>
          <p:nvPr>
            <p:ph type="ftr" sz="quarter" idx="11"/>
          </p:nvPr>
        </p:nvSpPr>
        <p:spPr/>
        <p:txBody>
          <a:bodyPr/>
          <a:lstStyle/>
          <a:p>
            <a:r>
              <a:rPr lang="fr-FR"/>
              <a:t>Introduction à la Statistique descriptive</a:t>
            </a:r>
          </a:p>
        </p:txBody>
      </p:sp>
      <p:sp>
        <p:nvSpPr>
          <p:cNvPr id="6" name="Espace réservé du numéro de diapositive 5"/>
          <p:cNvSpPr>
            <a:spLocks noGrp="1"/>
          </p:cNvSpPr>
          <p:nvPr>
            <p:ph type="sldNum" sz="quarter" idx="12"/>
          </p:nvPr>
        </p:nvSpPr>
        <p:spPr/>
        <p:txBody>
          <a:bodyPr/>
          <a:lstStyle/>
          <a:p>
            <a:fld id="{ACD63441-67CA-4275-B112-E958F8793EB2}"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0A728C-56CF-4018-8886-D5C14EA56F85}" type="datetime1">
              <a:rPr lang="fr-FR" smtClean="0"/>
              <a:t>23/02/2026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Introduction à la Statistique descriptive</a:t>
            </a: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D63441-67CA-4275-B112-E958F8793EB2}"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p:txBody>
          <a:bodyPr/>
          <a:lstStyle/>
          <a:p>
            <a:fld id="{D2AB0653-5D64-4B30-A911-02883B0621B1}"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1</a:t>
            </a:fld>
            <a:endParaRPr lang="fr-FR"/>
          </a:p>
        </p:txBody>
      </p:sp>
      <p:sp>
        <p:nvSpPr>
          <p:cNvPr id="6" name="Espace réservé du pied de page 5"/>
          <p:cNvSpPr>
            <a:spLocks noGrp="1"/>
          </p:cNvSpPr>
          <p:nvPr>
            <p:ph type="ftr" sz="quarter" idx="11"/>
          </p:nvPr>
        </p:nvSpPr>
        <p:spPr>
          <a:xfrm>
            <a:off x="3476600" y="6356350"/>
            <a:ext cx="2895600" cy="365125"/>
          </a:xfrm>
        </p:spPr>
        <p:txBody>
          <a:bodyPr/>
          <a:lstStyle/>
          <a:p>
            <a:r>
              <a:rPr lang="fr-FR" dirty="0"/>
              <a:t>Introduction à la Statistique descriptive</a:t>
            </a:r>
          </a:p>
        </p:txBody>
      </p:sp>
      <p:pic>
        <p:nvPicPr>
          <p:cNvPr id="10" name="Picture 8" descr="Statistiques et tableur – Mathématiques">
            <a:extLst>
              <a:ext uri="{FF2B5EF4-FFF2-40B4-BE49-F238E27FC236}">
                <a16:creationId xmlns:a16="http://schemas.microsoft.com/office/drawing/2014/main" id="{64733068-7406-0179-E78A-11A3C9251C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4365494"/>
            <a:ext cx="4104456" cy="1871818"/>
          </a:xfrm>
          <a:prstGeom prst="rect">
            <a:avLst/>
          </a:prstGeom>
          <a:noFill/>
          <a:extLst>
            <a:ext uri="{909E8E84-426E-40DD-AFC4-6F175D3DCCD1}">
              <a14:hiddenFill xmlns:a14="http://schemas.microsoft.com/office/drawing/2010/main">
                <a:solidFill>
                  <a:srgbClr val="FFFFFF"/>
                </a:solidFill>
              </a14:hiddenFill>
            </a:ext>
          </a:extLst>
        </p:spPr>
      </p:pic>
      <p:sp>
        <p:nvSpPr>
          <p:cNvPr id="12" name="Sous-titre 2">
            <a:extLst>
              <a:ext uri="{FF2B5EF4-FFF2-40B4-BE49-F238E27FC236}">
                <a16:creationId xmlns:a16="http://schemas.microsoft.com/office/drawing/2014/main" id="{CD886A10-24C8-D977-261E-C9B7CC5F4BA0}"/>
              </a:ext>
            </a:extLst>
          </p:cNvPr>
          <p:cNvSpPr txBox="1">
            <a:spLocks/>
          </p:cNvSpPr>
          <p:nvPr/>
        </p:nvSpPr>
        <p:spPr>
          <a:xfrm>
            <a:off x="1731640" y="4941168"/>
            <a:ext cx="6944816" cy="1292724"/>
          </a:xfrm>
          <a:prstGeom prst="rect">
            <a:avLst/>
          </a:prstGeom>
        </p:spPr>
        <p:txBody>
          <a:bodyPr vert="horz" lIns="91440" tIns="45720" rIns="91440" bIns="45720" rtlCol="0">
            <a:normAutofit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fr-FR" dirty="0"/>
          </a:p>
          <a:p>
            <a:pPr lvl="6"/>
            <a:r>
              <a:rPr lang="fr-FR" b="1" dirty="0">
                <a:solidFill>
                  <a:schemeClr val="tx1"/>
                </a:solidFill>
              </a:rPr>
              <a:t>Semestre </a:t>
            </a:r>
            <a:r>
              <a:rPr lang="fr-FR" b="1" dirty="0" smtClean="0">
                <a:solidFill>
                  <a:schemeClr val="tx1"/>
                </a:solidFill>
              </a:rPr>
              <a:t>2</a:t>
            </a:r>
            <a:endParaRPr lang="fr-FR" b="1" dirty="0">
              <a:solidFill>
                <a:schemeClr val="tx1"/>
              </a:solidFill>
            </a:endParaRPr>
          </a:p>
          <a:p>
            <a:pPr lvl="6"/>
            <a:r>
              <a:rPr lang="fr-FR" b="1" dirty="0">
                <a:solidFill>
                  <a:schemeClr val="tx1"/>
                </a:solidFill>
              </a:rPr>
              <a:t>Année universitaire : 2025 - 2026</a:t>
            </a:r>
          </a:p>
        </p:txBody>
      </p:sp>
      <p:pic>
        <p:nvPicPr>
          <p:cNvPr id="14" name="Image 13" descr="institut africain entatezz (2)"/>
          <p:cNvPicPr/>
          <p:nvPr/>
        </p:nvPicPr>
        <p:blipFill>
          <a:blip r:embed="rId4" cstate="print"/>
          <a:srcRect/>
          <a:stretch>
            <a:fillRect/>
          </a:stretch>
        </p:blipFill>
        <p:spPr bwMode="auto">
          <a:xfrm>
            <a:off x="2411730" y="1786"/>
            <a:ext cx="4320540" cy="642938"/>
          </a:xfrm>
          <a:prstGeom prst="rect">
            <a:avLst/>
          </a:prstGeom>
          <a:noFill/>
          <a:ln w="9525">
            <a:noFill/>
            <a:miter lim="800000"/>
            <a:headEnd/>
            <a:tailEnd/>
          </a:ln>
        </p:spPr>
      </p:pic>
      <p:sp>
        <p:nvSpPr>
          <p:cNvPr id="15" name="Titre 1">
            <a:extLst>
              <a:ext uri="{FF2B5EF4-FFF2-40B4-BE49-F238E27FC236}">
                <a16:creationId xmlns:a16="http://schemas.microsoft.com/office/drawing/2014/main" id="{62338D67-38B9-7BD4-7453-1D00CF658CD8}"/>
              </a:ext>
            </a:extLst>
          </p:cNvPr>
          <p:cNvSpPr txBox="1">
            <a:spLocks/>
          </p:cNvSpPr>
          <p:nvPr/>
        </p:nvSpPr>
        <p:spPr>
          <a:xfrm>
            <a:off x="1" y="706660"/>
            <a:ext cx="2916849" cy="126017"/>
          </a:xfrm>
          <a:prstGeom prst="rect">
            <a:avLst/>
          </a:prstGeom>
          <a:solidFill>
            <a:schemeClr val="accent2">
              <a:lumMod val="50000"/>
            </a:schemeClr>
          </a:solidFill>
          <a:ln w="28575">
            <a:solidFill>
              <a:schemeClr val="tx1"/>
            </a:solidFill>
          </a:ln>
        </p:spPr>
        <p:txBody>
          <a:bodyPr vert="horz" lIns="68580" tIns="34290" rIns="68580" bIns="3429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fr-DJ" sz="3300" dirty="0"/>
          </a:p>
        </p:txBody>
      </p:sp>
      <p:sp>
        <p:nvSpPr>
          <p:cNvPr id="16" name="Titre 1">
            <a:extLst>
              <a:ext uri="{FF2B5EF4-FFF2-40B4-BE49-F238E27FC236}">
                <a16:creationId xmlns:a16="http://schemas.microsoft.com/office/drawing/2014/main" id="{62338D67-38B9-7BD4-7453-1D00CF658CD8}"/>
              </a:ext>
            </a:extLst>
          </p:cNvPr>
          <p:cNvSpPr txBox="1">
            <a:spLocks/>
          </p:cNvSpPr>
          <p:nvPr/>
        </p:nvSpPr>
        <p:spPr>
          <a:xfrm>
            <a:off x="3116036" y="710695"/>
            <a:ext cx="2916849" cy="126017"/>
          </a:xfrm>
          <a:prstGeom prst="rect">
            <a:avLst/>
          </a:prstGeom>
          <a:solidFill>
            <a:srgbClr val="C00000"/>
          </a:solidFill>
          <a:ln w="28575">
            <a:solidFill>
              <a:schemeClr val="tx1"/>
            </a:solidFill>
          </a:ln>
        </p:spPr>
        <p:txBody>
          <a:bodyPr vert="horz" lIns="68580" tIns="34290" rIns="68580" bIns="3429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fr-DJ" sz="3300" dirty="0"/>
          </a:p>
        </p:txBody>
      </p:sp>
      <p:sp>
        <p:nvSpPr>
          <p:cNvPr id="17" name="Titre 1">
            <a:extLst>
              <a:ext uri="{FF2B5EF4-FFF2-40B4-BE49-F238E27FC236}">
                <a16:creationId xmlns:a16="http://schemas.microsoft.com/office/drawing/2014/main" id="{62338D67-38B9-7BD4-7453-1D00CF658CD8}"/>
              </a:ext>
            </a:extLst>
          </p:cNvPr>
          <p:cNvSpPr txBox="1">
            <a:spLocks/>
          </p:cNvSpPr>
          <p:nvPr/>
        </p:nvSpPr>
        <p:spPr>
          <a:xfrm>
            <a:off x="6225476" y="706709"/>
            <a:ext cx="2916849" cy="126017"/>
          </a:xfrm>
          <a:prstGeom prst="rect">
            <a:avLst/>
          </a:prstGeom>
          <a:solidFill>
            <a:schemeClr val="accent3"/>
          </a:solidFill>
          <a:ln w="28575">
            <a:solidFill>
              <a:schemeClr val="tx1"/>
            </a:solidFill>
          </a:ln>
        </p:spPr>
        <p:txBody>
          <a:bodyPr vert="horz" lIns="68580" tIns="34290" rIns="68580" bIns="3429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fr-DJ" sz="3300" dirty="0"/>
          </a:p>
        </p:txBody>
      </p:sp>
      <p:sp>
        <p:nvSpPr>
          <p:cNvPr id="18" name="Titre 1">
            <a:extLst>
              <a:ext uri="{FF2B5EF4-FFF2-40B4-BE49-F238E27FC236}">
                <a16:creationId xmlns:a16="http://schemas.microsoft.com/office/drawing/2014/main" id="{62338D67-38B9-7BD4-7453-1D00CF658CD8}"/>
              </a:ext>
            </a:extLst>
          </p:cNvPr>
          <p:cNvSpPr txBox="1">
            <a:spLocks/>
          </p:cNvSpPr>
          <p:nvPr/>
        </p:nvSpPr>
        <p:spPr>
          <a:xfrm>
            <a:off x="0" y="2132856"/>
            <a:ext cx="9144000" cy="1152128"/>
          </a:xfrm>
          <a:prstGeom prst="rect">
            <a:avLst/>
          </a:prstGeom>
          <a:solidFill>
            <a:srgbClr val="0070C0"/>
          </a:solidFill>
          <a:ln w="28575">
            <a:solidFill>
              <a:schemeClr val="tx1"/>
            </a:solidFill>
          </a:ln>
        </p:spPr>
        <p:txBody>
          <a:bodyPr vert="horz" lIns="68580" tIns="34290" rIns="68580" bIns="3429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fr-FR" sz="3300" b="1" dirty="0">
                <a:cs typeface="Times New Roman" panose="02020603050405020304" pitchFamily="18" charset="0"/>
              </a:rPr>
              <a:t>STATISTIQUE DESCRIPTIVE</a:t>
            </a:r>
            <a:endParaRPr lang="fr-DJ" sz="3300" dirty="0"/>
          </a:p>
        </p:txBody>
      </p:sp>
      <p:sp>
        <p:nvSpPr>
          <p:cNvPr id="20" name="Rectangle 19"/>
          <p:cNvSpPr/>
          <p:nvPr/>
        </p:nvSpPr>
        <p:spPr>
          <a:xfrm>
            <a:off x="2916850" y="3502749"/>
            <a:ext cx="3503386" cy="646331"/>
          </a:xfrm>
          <a:prstGeom prst="rect">
            <a:avLst/>
          </a:prstGeom>
        </p:spPr>
        <p:txBody>
          <a:bodyPr wrap="square">
            <a:spAutoFit/>
          </a:bodyPr>
          <a:lstStyle/>
          <a:p>
            <a:r>
              <a:rPr lang="fr-FR" dirty="0" smtClean="0">
                <a:solidFill>
                  <a:schemeClr val="bg1"/>
                </a:solidFill>
              </a:rPr>
              <a:t>        </a:t>
            </a:r>
            <a:r>
              <a:rPr lang="fr-FR" dirty="0" smtClean="0"/>
              <a:t>Houssein MOUSSA GUEDI</a:t>
            </a:r>
          </a:p>
          <a:p>
            <a:r>
              <a:rPr lang="fr-FR" dirty="0" smtClean="0"/>
              <a:t> housseinmoussaguedi@gmail.com</a:t>
            </a:r>
            <a:endParaRPr lang="fr-F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0" y="2693988"/>
            <a:ext cx="9144000" cy="1470025"/>
          </a:xfrm>
          <a:solidFill>
            <a:srgbClr val="0070C0"/>
          </a:solidFill>
        </p:spPr>
        <p:txBody>
          <a:bodyPr>
            <a:normAutofit/>
          </a:bodyPr>
          <a:lstStyle/>
          <a:p>
            <a:pPr algn="l"/>
            <a:r>
              <a:rPr lang="fr-FR" sz="3200" b="1" dirty="0">
                <a:solidFill>
                  <a:schemeClr val="bg1"/>
                </a:solidFill>
              </a:rPr>
              <a:t>Chapitre 1: Vocabulaire de la statistique descriptive</a:t>
            </a:r>
          </a:p>
        </p:txBody>
      </p:sp>
      <p:sp>
        <p:nvSpPr>
          <p:cNvPr id="4" name="Espace réservé de la date 3"/>
          <p:cNvSpPr>
            <a:spLocks noGrp="1"/>
          </p:cNvSpPr>
          <p:nvPr>
            <p:ph type="dt" sz="half" idx="10"/>
          </p:nvPr>
        </p:nvSpPr>
        <p:spPr/>
        <p:txBody>
          <a:bodyPr/>
          <a:lstStyle/>
          <a:p>
            <a:fld id="{70A3ED39-AA19-42EC-B7C8-F1B88B16BF35}" type="datetime1">
              <a:rPr lang="fr-FR" smtClean="0"/>
              <a:t>23/02/2026</a:t>
            </a:fld>
            <a:endParaRPr lang="fr-FR"/>
          </a:p>
        </p:txBody>
      </p:sp>
      <p:sp>
        <p:nvSpPr>
          <p:cNvPr id="5" name="Espace réservé du pied de page 4"/>
          <p:cNvSpPr>
            <a:spLocks noGrp="1"/>
          </p:cNvSpPr>
          <p:nvPr>
            <p:ph type="ftr" sz="quarter" idx="11"/>
          </p:nvPr>
        </p:nvSpPr>
        <p:spPr/>
        <p:txBody>
          <a:bodyPr/>
          <a:lstStyle/>
          <a:p>
            <a:r>
              <a:rPr lang="fr-FR"/>
              <a:t>Introduction à la Statistique descriptive</a:t>
            </a:r>
          </a:p>
        </p:txBody>
      </p:sp>
      <p:sp>
        <p:nvSpPr>
          <p:cNvPr id="6" name="Espace réservé du numéro de diapositive 5"/>
          <p:cNvSpPr>
            <a:spLocks noGrp="1"/>
          </p:cNvSpPr>
          <p:nvPr>
            <p:ph type="sldNum" sz="quarter" idx="12"/>
          </p:nvPr>
        </p:nvSpPr>
        <p:spPr/>
        <p:txBody>
          <a:bodyPr/>
          <a:lstStyle/>
          <a:p>
            <a:fld id="{ACD63441-67CA-4275-B112-E958F8793EB2}" type="slidenum">
              <a:rPr lang="fr-FR" smtClean="0"/>
              <a:pPr/>
              <a:t>2</a:t>
            </a:fld>
            <a:endParaRPr lang="fr-FR"/>
          </a:p>
        </p:txBody>
      </p:sp>
    </p:spTree>
    <p:extLst>
      <p:ext uri="{BB962C8B-B14F-4D97-AF65-F5344CB8AC3E}">
        <p14:creationId xmlns:p14="http://schemas.microsoft.com/office/powerpoint/2010/main" val="8617934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4082"/>
          </a:xfrm>
          <a:solidFill>
            <a:srgbClr val="0070C0"/>
          </a:solidFill>
        </p:spPr>
        <p:txBody>
          <a:bodyPr>
            <a:normAutofit/>
          </a:bodyPr>
          <a:lstStyle/>
          <a:p>
            <a:pPr algn="l"/>
            <a:r>
              <a:rPr lang="fr-FR" sz="3200" dirty="0">
                <a:solidFill>
                  <a:schemeClr val="bg1"/>
                </a:solidFill>
              </a:rPr>
              <a:t>Objectifs</a:t>
            </a:r>
            <a:r>
              <a:rPr lang="fr-FR" sz="2800" dirty="0"/>
              <a:t> </a:t>
            </a:r>
          </a:p>
        </p:txBody>
      </p:sp>
      <p:sp>
        <p:nvSpPr>
          <p:cNvPr id="3" name="Espace réservé du contenu 2"/>
          <p:cNvSpPr>
            <a:spLocks noGrp="1"/>
          </p:cNvSpPr>
          <p:nvPr>
            <p:ph idx="1"/>
          </p:nvPr>
        </p:nvSpPr>
        <p:spPr>
          <a:xfrm>
            <a:off x="0" y="1428736"/>
            <a:ext cx="9144000" cy="4525963"/>
          </a:xfrm>
        </p:spPr>
        <p:txBody>
          <a:bodyPr>
            <a:normAutofit lnSpcReduction="10000"/>
          </a:bodyPr>
          <a:lstStyle/>
          <a:p>
            <a:pPr>
              <a:buFont typeface="Wingdings" pitchFamily="2" charset="2"/>
              <a:buChar char="Ø"/>
            </a:pPr>
            <a:r>
              <a:rPr lang="fr-FR" dirty="0"/>
              <a:t>Connaitre les différents termes qui constituent le vocabulaire de la statistique descriptive ainsi que leurs définitions.</a:t>
            </a:r>
          </a:p>
          <a:p>
            <a:pPr>
              <a:spcBef>
                <a:spcPts val="3000"/>
              </a:spcBef>
              <a:buFont typeface="Wingdings" pitchFamily="2" charset="2"/>
              <a:buChar char="Ø"/>
            </a:pPr>
            <a:r>
              <a:rPr lang="fr-FR" dirty="0"/>
              <a:t>Savoir identifier clairement, dans un exercice ou dans une étude statistique :</a:t>
            </a:r>
          </a:p>
          <a:p>
            <a:pPr algn="ctr"/>
            <a:r>
              <a:rPr lang="fr-FR" dirty="0"/>
              <a:t>Le groupe sur lequel porte une étude</a:t>
            </a:r>
          </a:p>
          <a:p>
            <a:pPr algn="ctr"/>
            <a:r>
              <a:rPr lang="fr-FR" dirty="0"/>
              <a:t>La caractéristique étudiée et sa nature</a:t>
            </a:r>
          </a:p>
          <a:p>
            <a:pPr algn="ctr"/>
            <a:r>
              <a:rPr lang="fr-FR" dirty="0"/>
              <a:t>Les modalités de la caractéristique étudiée</a:t>
            </a:r>
          </a:p>
        </p:txBody>
      </p:sp>
      <p:sp>
        <p:nvSpPr>
          <p:cNvPr id="4" name="Espace réservé de la date 3"/>
          <p:cNvSpPr>
            <a:spLocks noGrp="1"/>
          </p:cNvSpPr>
          <p:nvPr>
            <p:ph type="dt" sz="half" idx="10"/>
          </p:nvPr>
        </p:nvSpPr>
        <p:spPr/>
        <p:txBody>
          <a:bodyPr/>
          <a:lstStyle/>
          <a:p>
            <a:fld id="{941BD3B5-616B-4715-BC32-2ADCC72550D6}" type="datetime1">
              <a:rPr lang="fr-FR" smtClean="0"/>
              <a:t>23/02/2026</a:t>
            </a:fld>
            <a:endParaRPr lang="fr-FR"/>
          </a:p>
        </p:txBody>
      </p:sp>
      <p:sp>
        <p:nvSpPr>
          <p:cNvPr id="5" name="Espace réservé du pied de page 4"/>
          <p:cNvSpPr>
            <a:spLocks noGrp="1"/>
          </p:cNvSpPr>
          <p:nvPr>
            <p:ph type="ftr" sz="quarter" idx="11"/>
          </p:nvPr>
        </p:nvSpPr>
        <p:spPr/>
        <p:txBody>
          <a:bodyPr/>
          <a:lstStyle/>
          <a:p>
            <a:r>
              <a:rPr lang="fr-FR"/>
              <a:t>Introduction à la Statistique descriptive</a:t>
            </a:r>
          </a:p>
        </p:txBody>
      </p:sp>
      <p:sp>
        <p:nvSpPr>
          <p:cNvPr id="6" name="Espace réservé du numéro de diapositive 5"/>
          <p:cNvSpPr>
            <a:spLocks noGrp="1"/>
          </p:cNvSpPr>
          <p:nvPr>
            <p:ph type="sldNum" sz="quarter" idx="12"/>
          </p:nvPr>
        </p:nvSpPr>
        <p:spPr/>
        <p:txBody>
          <a:bodyPr/>
          <a:lstStyle/>
          <a:p>
            <a:fld id="{ACD63441-67CA-4275-B112-E958F8793EB2}" type="slidenum">
              <a:rPr lang="fr-FR" smtClean="0"/>
              <a:pPr/>
              <a:t>3</a:t>
            </a:fld>
            <a:endParaRPr lang="fr-FR"/>
          </a:p>
        </p:txBody>
      </p:sp>
    </p:spTree>
    <p:extLst>
      <p:ext uri="{BB962C8B-B14F-4D97-AF65-F5344CB8AC3E}">
        <p14:creationId xmlns:p14="http://schemas.microsoft.com/office/powerpoint/2010/main" val="171314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arn(inVertical)">
                                      <p:cBhvr>
                                        <p:cTn id="20" dur="500"/>
                                        <p:tgtEl>
                                          <p:spTgt spid="3">
                                            <p:txEl>
                                              <p:pRg st="3" end="3"/>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a:bodyPr>
          <a:lstStyle/>
          <a:p>
            <a:pPr algn="l"/>
            <a:r>
              <a:rPr lang="fr-FR" sz="3200" dirty="0">
                <a:solidFill>
                  <a:schemeClr val="bg1"/>
                </a:solidFill>
              </a:rPr>
              <a:t>Terminologie</a:t>
            </a:r>
            <a:r>
              <a:rPr lang="fr-FR" sz="3200" dirty="0"/>
              <a:t> </a:t>
            </a:r>
          </a:p>
        </p:txBody>
      </p:sp>
      <p:sp>
        <p:nvSpPr>
          <p:cNvPr id="3" name="Espace réservé du contenu 2"/>
          <p:cNvSpPr>
            <a:spLocks noGrp="1"/>
          </p:cNvSpPr>
          <p:nvPr>
            <p:ph idx="1"/>
          </p:nvPr>
        </p:nvSpPr>
        <p:spPr>
          <a:xfrm>
            <a:off x="179512" y="908720"/>
            <a:ext cx="8712968" cy="5400600"/>
          </a:xfrm>
        </p:spPr>
        <p:txBody>
          <a:bodyPr>
            <a:normAutofit fontScale="85000" lnSpcReduction="10000"/>
          </a:bodyPr>
          <a:lstStyle/>
          <a:p>
            <a:pPr>
              <a:lnSpc>
                <a:spcPct val="120000"/>
              </a:lnSpc>
              <a:spcBef>
                <a:spcPts val="0"/>
              </a:spcBef>
              <a:spcAft>
                <a:spcPts val="1200"/>
              </a:spcAft>
            </a:pPr>
            <a:r>
              <a:rPr lang="fr-FR" dirty="0">
                <a:solidFill>
                  <a:srgbClr val="0070C0"/>
                </a:solidFill>
              </a:rPr>
              <a:t>Population</a:t>
            </a:r>
            <a:r>
              <a:rPr lang="fr-FR" dirty="0"/>
              <a:t> : </a:t>
            </a:r>
            <a:r>
              <a:rPr lang="fr-FR" dirty="0" smtClean="0"/>
              <a:t>l’ensemble des éléments sur lesquels porte une étude. La population constitue l’univers de l’étude.</a:t>
            </a:r>
          </a:p>
          <a:p>
            <a:pPr>
              <a:lnSpc>
                <a:spcPct val="120000"/>
              </a:lnSpc>
              <a:spcBef>
                <a:spcPts val="1200"/>
              </a:spcBef>
              <a:spcAft>
                <a:spcPts val="1200"/>
              </a:spcAft>
            </a:pPr>
            <a:r>
              <a:rPr lang="fr-FR" dirty="0" smtClean="0">
                <a:solidFill>
                  <a:srgbClr val="0070C0"/>
                </a:solidFill>
              </a:rPr>
              <a:t>Unité </a:t>
            </a:r>
            <a:r>
              <a:rPr lang="fr-FR" dirty="0">
                <a:solidFill>
                  <a:srgbClr val="0070C0"/>
                </a:solidFill>
              </a:rPr>
              <a:t>ou individu statistique </a:t>
            </a:r>
            <a:r>
              <a:rPr lang="fr-FR" dirty="0"/>
              <a:t>: élément de base constitutif d’une population sur laquelle porte une étude. </a:t>
            </a:r>
          </a:p>
          <a:p>
            <a:pPr>
              <a:lnSpc>
                <a:spcPct val="120000"/>
              </a:lnSpc>
              <a:spcBef>
                <a:spcPts val="1200"/>
              </a:spcBef>
            </a:pPr>
            <a:r>
              <a:rPr lang="fr-FR" dirty="0" smtClean="0">
                <a:solidFill>
                  <a:srgbClr val="0070C0"/>
                </a:solidFill>
              </a:rPr>
              <a:t>Echantillon</a:t>
            </a:r>
            <a:r>
              <a:rPr lang="fr-FR" dirty="0" smtClean="0"/>
              <a:t> </a:t>
            </a:r>
            <a:r>
              <a:rPr lang="fr-FR" dirty="0"/>
              <a:t>: c’est un sous-ensemble issu (construit) et représentatif d’une population. La notion d’échantillon est fondamentale, car, en règle générale, la population entière n’est pas disponible ou observable. Dans ce cas, seul un échantillon est étudié et les résultats obtenus sont extrapolés à la population.</a:t>
            </a:r>
          </a:p>
        </p:txBody>
      </p:sp>
      <p:sp>
        <p:nvSpPr>
          <p:cNvPr id="4" name="Espace réservé de la date 3"/>
          <p:cNvSpPr>
            <a:spLocks noGrp="1"/>
          </p:cNvSpPr>
          <p:nvPr>
            <p:ph type="dt" sz="half" idx="10"/>
          </p:nvPr>
        </p:nvSpPr>
        <p:spPr/>
        <p:txBody>
          <a:bodyPr/>
          <a:lstStyle/>
          <a:p>
            <a:fld id="{F2DE7984-FA6A-4ED1-B39B-091E4E25A552}"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4</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fontScale="90000"/>
          </a:bodyPr>
          <a:lstStyle/>
          <a:p>
            <a:pPr algn="l"/>
            <a:r>
              <a:rPr lang="fr-FR" sz="3600" dirty="0">
                <a:solidFill>
                  <a:schemeClr val="bg1"/>
                </a:solidFill>
              </a:rPr>
              <a:t>Terminologie</a:t>
            </a:r>
            <a:r>
              <a:rPr lang="fr-FR" dirty="0">
                <a:solidFill>
                  <a:schemeClr val="bg1"/>
                </a:solidFill>
              </a:rPr>
              <a:t> </a:t>
            </a:r>
          </a:p>
        </p:txBody>
      </p:sp>
      <p:sp>
        <p:nvSpPr>
          <p:cNvPr id="3" name="Espace réservé du contenu 2"/>
          <p:cNvSpPr>
            <a:spLocks noGrp="1"/>
          </p:cNvSpPr>
          <p:nvPr>
            <p:ph idx="1"/>
          </p:nvPr>
        </p:nvSpPr>
        <p:spPr>
          <a:xfrm>
            <a:off x="214282" y="1061287"/>
            <a:ext cx="8643998" cy="1071569"/>
          </a:xfrm>
        </p:spPr>
        <p:txBody>
          <a:bodyPr>
            <a:normAutofit fontScale="92500"/>
          </a:bodyPr>
          <a:lstStyle/>
          <a:p>
            <a:pPr>
              <a:buNone/>
            </a:pPr>
            <a:r>
              <a:rPr lang="fr-FR" sz="2700" dirty="0"/>
              <a:t>Les relations qui existent entre la population, les échantillons et</a:t>
            </a:r>
          </a:p>
          <a:p>
            <a:pPr>
              <a:buNone/>
            </a:pPr>
            <a:r>
              <a:rPr lang="fr-FR" sz="2700" dirty="0"/>
              <a:t>l’unité statistique sont résumées dans le schéma ci-dessous.</a:t>
            </a:r>
          </a:p>
          <a:p>
            <a:endParaRPr lang="fr-FR" dirty="0"/>
          </a:p>
        </p:txBody>
      </p:sp>
      <p:pic>
        <p:nvPicPr>
          <p:cNvPr id="4"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0" y="2276871"/>
            <a:ext cx="9144000" cy="4366839"/>
          </a:xfrm>
          <a:prstGeom prst="rect">
            <a:avLst/>
          </a:prstGeom>
          <a:noFill/>
          <a:ln>
            <a:noFill/>
          </a:ln>
        </p:spPr>
      </p:pic>
      <p:sp>
        <p:nvSpPr>
          <p:cNvPr id="5" name="Espace réservé de la date 4"/>
          <p:cNvSpPr>
            <a:spLocks noGrp="1"/>
          </p:cNvSpPr>
          <p:nvPr>
            <p:ph type="dt" sz="half" idx="10"/>
          </p:nvPr>
        </p:nvSpPr>
        <p:spPr/>
        <p:txBody>
          <a:bodyPr/>
          <a:lstStyle/>
          <a:p>
            <a:fld id="{4029D09D-BC41-4701-81D5-6947BFA0223A}" type="datetime1">
              <a:rPr lang="fr-FR" smtClean="0"/>
              <a:t>23/02/2026</a:t>
            </a:fld>
            <a:endParaRPr lang="fr-FR"/>
          </a:p>
        </p:txBody>
      </p:sp>
      <p:sp>
        <p:nvSpPr>
          <p:cNvPr id="6" name="Espace réservé du numéro de diapositive 5"/>
          <p:cNvSpPr>
            <a:spLocks noGrp="1"/>
          </p:cNvSpPr>
          <p:nvPr>
            <p:ph type="sldNum" sz="quarter" idx="12"/>
          </p:nvPr>
        </p:nvSpPr>
        <p:spPr/>
        <p:txBody>
          <a:bodyPr/>
          <a:lstStyle/>
          <a:p>
            <a:fld id="{ACD63441-67CA-4275-B112-E958F8793EB2}" type="slidenum">
              <a:rPr lang="fr-FR" smtClean="0"/>
              <a:pPr/>
              <a:t>5</a:t>
            </a:fld>
            <a:endParaRPr lang="fr-FR"/>
          </a:p>
        </p:txBody>
      </p:sp>
      <p:sp>
        <p:nvSpPr>
          <p:cNvPr id="7" name="Espace réservé du pied de page 6"/>
          <p:cNvSpPr>
            <a:spLocks noGrp="1"/>
          </p:cNvSpPr>
          <p:nvPr>
            <p:ph type="ftr" sz="quarter" idx="11"/>
          </p:nvPr>
        </p:nvSpPr>
        <p:spPr/>
        <p:txBody>
          <a:bodyPr/>
          <a:lstStyle/>
          <a:p>
            <a:r>
              <a:rPr lang="fr-FR"/>
              <a:t>Introduction à la Statistique descriptive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4082"/>
          </a:xfrm>
          <a:solidFill>
            <a:srgbClr val="0070C0"/>
          </a:solidFill>
        </p:spPr>
        <p:txBody>
          <a:bodyPr>
            <a:normAutofit fontScale="90000"/>
          </a:bodyPr>
          <a:lstStyle/>
          <a:p>
            <a:pPr algn="l"/>
            <a:r>
              <a:rPr lang="fr-FR" sz="3600" dirty="0">
                <a:solidFill>
                  <a:schemeClr val="bg1"/>
                </a:solidFill>
              </a:rPr>
              <a:t>Terminologie</a:t>
            </a:r>
            <a:r>
              <a:rPr lang="fr-FR" dirty="0">
                <a:solidFill>
                  <a:schemeClr val="bg1"/>
                </a:solidFill>
              </a:rPr>
              <a:t> </a:t>
            </a:r>
          </a:p>
        </p:txBody>
      </p:sp>
      <p:sp>
        <p:nvSpPr>
          <p:cNvPr id="3" name="Espace réservé du contenu 2"/>
          <p:cNvSpPr>
            <a:spLocks noGrp="1"/>
          </p:cNvSpPr>
          <p:nvPr>
            <p:ph idx="1"/>
          </p:nvPr>
        </p:nvSpPr>
        <p:spPr/>
        <p:txBody>
          <a:bodyPr/>
          <a:lstStyle/>
          <a:p>
            <a:pPr>
              <a:spcBef>
                <a:spcPts val="0"/>
              </a:spcBef>
              <a:spcAft>
                <a:spcPts val="1200"/>
              </a:spcAft>
            </a:pPr>
            <a:r>
              <a:rPr lang="fr-FR" sz="2700" dirty="0">
                <a:solidFill>
                  <a:srgbClr val="0070C0"/>
                </a:solidFill>
              </a:rPr>
              <a:t>Variable ou caractère statistique </a:t>
            </a:r>
            <a:r>
              <a:rPr lang="fr-FR" dirty="0"/>
              <a:t>: </a:t>
            </a:r>
            <a:r>
              <a:rPr lang="fr-FR" sz="2700" dirty="0"/>
              <a:t>c’est le critère d’étude d’une population. C’est la caractéristique de la population qui est observé ou mesuré.</a:t>
            </a:r>
          </a:p>
          <a:p>
            <a:pPr>
              <a:spcBef>
                <a:spcPts val="3000"/>
              </a:spcBef>
            </a:pPr>
            <a:r>
              <a:rPr lang="fr-FR" sz="2700" dirty="0">
                <a:solidFill>
                  <a:srgbClr val="0070C0"/>
                </a:solidFill>
              </a:rPr>
              <a:t>Modalités</a:t>
            </a:r>
            <a:r>
              <a:rPr lang="fr-FR" sz="2700" dirty="0"/>
              <a:t> </a:t>
            </a:r>
            <a:r>
              <a:rPr lang="fr-FR" sz="2700" dirty="0">
                <a:solidFill>
                  <a:srgbClr val="0070C0"/>
                </a:solidFill>
              </a:rPr>
              <a:t>d’une variable</a:t>
            </a:r>
            <a:r>
              <a:rPr lang="fr-FR" sz="2700" dirty="0"/>
              <a:t> : ce sont les différentes  valeurs que peut prendre une variable ou caractère statistique.</a:t>
            </a:r>
          </a:p>
        </p:txBody>
      </p:sp>
      <p:sp>
        <p:nvSpPr>
          <p:cNvPr id="4" name="Espace réservé de la date 3"/>
          <p:cNvSpPr>
            <a:spLocks noGrp="1"/>
          </p:cNvSpPr>
          <p:nvPr>
            <p:ph type="dt" sz="half" idx="10"/>
          </p:nvPr>
        </p:nvSpPr>
        <p:spPr/>
        <p:txBody>
          <a:bodyPr/>
          <a:lstStyle/>
          <a:p>
            <a:fld id="{378D6DA5-8724-418E-A383-88D3F199EFAE}"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6</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a:bodyPr>
          <a:lstStyle/>
          <a:p>
            <a:pPr algn="l"/>
            <a:r>
              <a:rPr lang="fr-FR" sz="3200" dirty="0">
                <a:solidFill>
                  <a:schemeClr val="bg1"/>
                </a:solidFill>
              </a:rPr>
              <a:t>Exemple de population et variable  </a:t>
            </a:r>
          </a:p>
        </p:txBody>
      </p:sp>
      <p:sp>
        <p:nvSpPr>
          <p:cNvPr id="3" name="Espace réservé du contenu 2"/>
          <p:cNvSpPr>
            <a:spLocks noGrp="1"/>
          </p:cNvSpPr>
          <p:nvPr>
            <p:ph idx="1"/>
          </p:nvPr>
        </p:nvSpPr>
        <p:spPr>
          <a:xfrm>
            <a:off x="179512" y="733384"/>
            <a:ext cx="8856984" cy="1327464"/>
          </a:xfrm>
        </p:spPr>
        <p:txBody>
          <a:bodyPr>
            <a:normAutofit fontScale="70000" lnSpcReduction="20000"/>
          </a:bodyPr>
          <a:lstStyle/>
          <a:p>
            <a:pPr>
              <a:lnSpc>
                <a:spcPct val="120000"/>
              </a:lnSpc>
              <a:spcBef>
                <a:spcPts val="0"/>
              </a:spcBef>
              <a:buNone/>
            </a:pPr>
            <a:r>
              <a:rPr lang="fr-FR" dirty="0"/>
              <a:t>Les éléments suivants sont autant d’exemples de population sur laquelle</a:t>
            </a:r>
          </a:p>
          <a:p>
            <a:pPr lvl="0">
              <a:lnSpc>
                <a:spcPct val="120000"/>
              </a:lnSpc>
              <a:spcBef>
                <a:spcPts val="600"/>
              </a:spcBef>
              <a:buNone/>
            </a:pPr>
            <a:r>
              <a:rPr lang="fr-FR" dirty="0"/>
              <a:t>peut porter une étude ainsi que</a:t>
            </a:r>
            <a:r>
              <a:rPr lang="fr-FR" dirty="0">
                <a:solidFill>
                  <a:prstClr val="black"/>
                </a:solidFill>
              </a:rPr>
              <a:t> des variables (critères) d’étude de ces</a:t>
            </a:r>
          </a:p>
          <a:p>
            <a:pPr lvl="0">
              <a:lnSpc>
                <a:spcPct val="120000"/>
              </a:lnSpc>
              <a:spcBef>
                <a:spcPts val="600"/>
              </a:spcBef>
              <a:buNone/>
            </a:pPr>
            <a:r>
              <a:rPr lang="fr-FR" dirty="0">
                <a:solidFill>
                  <a:prstClr val="black"/>
                </a:solidFill>
              </a:rPr>
              <a:t>population.</a:t>
            </a:r>
            <a:endParaRPr lang="fr-FR" dirty="0"/>
          </a:p>
        </p:txBody>
      </p:sp>
      <p:sp>
        <p:nvSpPr>
          <p:cNvPr id="4" name="Espace réservé de la date 3"/>
          <p:cNvSpPr>
            <a:spLocks noGrp="1"/>
          </p:cNvSpPr>
          <p:nvPr>
            <p:ph type="dt" sz="half" idx="10"/>
          </p:nvPr>
        </p:nvSpPr>
        <p:spPr/>
        <p:txBody>
          <a:bodyPr/>
          <a:lstStyle/>
          <a:p>
            <a:fld id="{5EAD8CFD-B0EA-4A63-9985-0E658AE79383}"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7</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graphicFrame>
        <p:nvGraphicFramePr>
          <p:cNvPr id="7" name="Tableau 6"/>
          <p:cNvGraphicFramePr>
            <a:graphicFrameLocks noGrp="1"/>
          </p:cNvGraphicFramePr>
          <p:nvPr>
            <p:extLst>
              <p:ext uri="{D42A27DB-BD31-4B8C-83A1-F6EECF244321}">
                <p14:modId xmlns:p14="http://schemas.microsoft.com/office/powerpoint/2010/main" val="1233522509"/>
              </p:ext>
            </p:extLst>
          </p:nvPr>
        </p:nvGraphicFramePr>
        <p:xfrm>
          <a:off x="179512" y="2132856"/>
          <a:ext cx="8856984" cy="4146826"/>
        </p:xfrm>
        <a:graphic>
          <a:graphicData uri="http://schemas.openxmlformats.org/drawingml/2006/table">
            <a:tbl>
              <a:tblPr firstRow="1" bandRow="1">
                <a:tableStyleId>{5C22544A-7EE6-4342-B048-85BDC9FD1C3A}</a:tableStyleId>
              </a:tblPr>
              <a:tblGrid>
                <a:gridCol w="4428492">
                  <a:extLst>
                    <a:ext uri="{9D8B030D-6E8A-4147-A177-3AD203B41FA5}">
                      <a16:colId xmlns:a16="http://schemas.microsoft.com/office/drawing/2014/main" val="20000"/>
                    </a:ext>
                  </a:extLst>
                </a:gridCol>
                <a:gridCol w="4428492">
                  <a:extLst>
                    <a:ext uri="{9D8B030D-6E8A-4147-A177-3AD203B41FA5}">
                      <a16:colId xmlns:a16="http://schemas.microsoft.com/office/drawing/2014/main" val="20001"/>
                    </a:ext>
                  </a:extLst>
                </a:gridCol>
              </a:tblGrid>
              <a:tr h="328484">
                <a:tc>
                  <a:txBody>
                    <a:bodyPr/>
                    <a:lstStyle/>
                    <a:p>
                      <a:endParaRPr lang="fr-FR" dirty="0"/>
                    </a:p>
                  </a:txBody>
                  <a:tcPr/>
                </a:tc>
                <a:tc>
                  <a:txBody>
                    <a:bodyPr/>
                    <a:lstStyle/>
                    <a:p>
                      <a:endParaRPr lang="fr-FR" dirty="0"/>
                    </a:p>
                  </a:txBody>
                  <a:tcPr/>
                </a:tc>
                <a:extLst>
                  <a:ext uri="{0D108BD9-81ED-4DB2-BD59-A6C34878D82A}">
                    <a16:rowId xmlns:a16="http://schemas.microsoft.com/office/drawing/2014/main" val="10000"/>
                  </a:ext>
                </a:extLst>
              </a:tr>
              <a:tr h="1067573">
                <a:tc>
                  <a:txBody>
                    <a:bodyPr/>
                    <a:lstStyle/>
                    <a:p>
                      <a:endParaRPr lang="fr-FR"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a:txBody>
                  <a:tcPr/>
                </a:tc>
                <a:extLst>
                  <a:ext uri="{0D108BD9-81ED-4DB2-BD59-A6C34878D82A}">
                    <a16:rowId xmlns:a16="http://schemas.microsoft.com/office/drawing/2014/main" val="10001"/>
                  </a:ext>
                </a:extLst>
              </a:tr>
              <a:tr h="1067573">
                <a:tc>
                  <a:txBody>
                    <a:bodyPr/>
                    <a:lstStyle/>
                    <a:p>
                      <a:endParaRPr lang="fr-FR" dirty="0"/>
                    </a:p>
                  </a:txBody>
                  <a:tcPr/>
                </a:tc>
                <a:tc>
                  <a:txBody>
                    <a:bodyPr/>
                    <a:lstStyle/>
                    <a:p>
                      <a:endParaRPr lang="fr-FR" sz="1800" b="1"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2848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b="1" dirty="0"/>
                    </a:p>
                    <a:p>
                      <a:pPr marL="0" marR="0" indent="0" algn="l" defTabSz="914400" rtl="0" eaLnBrk="1" fontAlgn="auto" latinLnBrk="0" hangingPunct="1">
                        <a:lnSpc>
                          <a:spcPct val="100000"/>
                        </a:lnSpc>
                        <a:spcBef>
                          <a:spcPts val="0"/>
                        </a:spcBef>
                        <a:spcAft>
                          <a:spcPts val="0"/>
                        </a:spcAft>
                        <a:buClrTx/>
                        <a:buSzTx/>
                        <a:buFontTx/>
                        <a:buNone/>
                        <a:tabLst/>
                        <a:defRPr/>
                      </a:pPr>
                      <a:endParaRPr lang="fr-FR" b="1"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sz="1800" b="1"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2848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b="1" dirty="0"/>
                    </a:p>
                    <a:p>
                      <a:pPr marL="0" marR="0" indent="0" algn="l" defTabSz="914400" rtl="0" eaLnBrk="1" fontAlgn="auto" latinLnBrk="0" hangingPunct="1">
                        <a:lnSpc>
                          <a:spcPct val="100000"/>
                        </a:lnSpc>
                        <a:spcBef>
                          <a:spcPts val="0"/>
                        </a:spcBef>
                        <a:spcAft>
                          <a:spcPts val="0"/>
                        </a:spcAft>
                        <a:buClrTx/>
                        <a:buSzTx/>
                        <a:buFontTx/>
                        <a:buNone/>
                        <a:tabLst/>
                        <a:defRPr/>
                      </a:pPr>
                      <a:endParaRPr lang="fr-FR" b="1" dirty="0"/>
                    </a:p>
                  </a:txBody>
                  <a:tcPr/>
                </a:tc>
                <a:tc>
                  <a:txBody>
                    <a:bodyPr/>
                    <a:lstStyle/>
                    <a:p>
                      <a:endParaRPr lang="fr-FR" sz="1800" b="1" kern="1200" dirty="0">
                        <a:solidFill>
                          <a:schemeClr val="dk1"/>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0004"/>
                  </a:ext>
                </a:extLst>
              </a:tr>
              <a:tr h="328484">
                <a:tc>
                  <a:txBody>
                    <a:bodyPr/>
                    <a:lstStyle/>
                    <a:p>
                      <a:endParaRPr lang="fr-FR"/>
                    </a:p>
                  </a:txBody>
                  <a:tcPr/>
                </a:tc>
                <a:tc>
                  <a:txBody>
                    <a:bodyPr/>
                    <a:lstStyle/>
                    <a:p>
                      <a:endParaRPr lang="fr-FR" dirty="0"/>
                    </a:p>
                  </a:txBody>
                  <a:tcPr/>
                </a:tc>
                <a:extLst>
                  <a:ext uri="{0D108BD9-81ED-4DB2-BD59-A6C34878D82A}">
                    <a16:rowId xmlns:a16="http://schemas.microsoft.com/office/drawing/2014/main" val="10005"/>
                  </a:ext>
                </a:extLst>
              </a:tr>
            </a:tbl>
          </a:graphicData>
        </a:graphic>
      </p:graphicFrame>
      <p:sp>
        <p:nvSpPr>
          <p:cNvPr id="9" name="ZoneTexte 8"/>
          <p:cNvSpPr txBox="1"/>
          <p:nvPr/>
        </p:nvSpPr>
        <p:spPr>
          <a:xfrm>
            <a:off x="251520" y="2765714"/>
            <a:ext cx="4176464" cy="369332"/>
          </a:xfrm>
          <a:prstGeom prst="rect">
            <a:avLst/>
          </a:prstGeom>
          <a:noFill/>
        </p:spPr>
        <p:txBody>
          <a:bodyPr wrap="square" rtlCol="0">
            <a:spAutoFit/>
          </a:bodyPr>
          <a:lstStyle/>
          <a:p>
            <a:pPr algn="ctr"/>
            <a:r>
              <a:rPr lang="fr-FR" b="1" dirty="0"/>
              <a:t>Les employés d’une entreprise</a:t>
            </a:r>
            <a:endParaRPr lang="fr-FR" dirty="0"/>
          </a:p>
        </p:txBody>
      </p:sp>
      <p:sp>
        <p:nvSpPr>
          <p:cNvPr id="10" name="ZoneTexte 9"/>
          <p:cNvSpPr txBox="1"/>
          <p:nvPr/>
        </p:nvSpPr>
        <p:spPr>
          <a:xfrm>
            <a:off x="4644008" y="2577678"/>
            <a:ext cx="4320480" cy="923330"/>
          </a:xfrm>
          <a:prstGeom prst="rect">
            <a:avLst/>
          </a:prstGeom>
          <a:noFill/>
        </p:spPr>
        <p:txBody>
          <a:bodyPr wrap="square" rtlCol="0">
            <a:spAutoFit/>
          </a:bodyPr>
          <a:lstStyle/>
          <a:p>
            <a:pPr algn="ctr">
              <a:buFont typeface="Wingdings" pitchFamily="2" charset="2"/>
              <a:buChar char="Ø"/>
              <a:defRPr/>
            </a:pPr>
            <a:r>
              <a:rPr lang="fr-FR" b="1" dirty="0">
                <a:latin typeface="Times New Roman" pitchFamily="18" charset="0"/>
                <a:cs typeface="Times New Roman" pitchFamily="18" charset="0"/>
              </a:rPr>
              <a:t>Le salaire </a:t>
            </a:r>
          </a:p>
          <a:p>
            <a:pPr algn="ctr">
              <a:buFont typeface="Wingdings" pitchFamily="2" charset="2"/>
              <a:buChar char="Ø"/>
              <a:defRPr/>
            </a:pPr>
            <a:r>
              <a:rPr lang="fr-FR" b="1" dirty="0">
                <a:latin typeface="Times New Roman" pitchFamily="18" charset="0"/>
                <a:cs typeface="Times New Roman" pitchFamily="18" charset="0"/>
              </a:rPr>
              <a:t>La qualification </a:t>
            </a:r>
          </a:p>
          <a:p>
            <a:pPr algn="ctr">
              <a:buFont typeface="Wingdings" pitchFamily="2" charset="2"/>
              <a:buChar char="Ø"/>
              <a:defRPr/>
            </a:pPr>
            <a:r>
              <a:rPr lang="fr-FR" b="1" dirty="0">
                <a:latin typeface="Times New Roman" pitchFamily="18" charset="0"/>
                <a:cs typeface="Times New Roman" pitchFamily="18" charset="0"/>
              </a:rPr>
              <a:t>Le niveau d’étude (le diplôme)</a:t>
            </a:r>
          </a:p>
        </p:txBody>
      </p:sp>
      <p:sp>
        <p:nvSpPr>
          <p:cNvPr id="11" name="ZoneTexte 10"/>
          <p:cNvSpPr txBox="1"/>
          <p:nvPr/>
        </p:nvSpPr>
        <p:spPr>
          <a:xfrm>
            <a:off x="251520" y="3845834"/>
            <a:ext cx="4248472" cy="369332"/>
          </a:xfrm>
          <a:prstGeom prst="rect">
            <a:avLst/>
          </a:prstGeom>
          <a:noFill/>
        </p:spPr>
        <p:txBody>
          <a:bodyPr wrap="square" rtlCol="0">
            <a:spAutoFit/>
          </a:bodyPr>
          <a:lstStyle/>
          <a:p>
            <a:pPr algn="ctr"/>
            <a:r>
              <a:rPr lang="fr-FR" b="1" dirty="0"/>
              <a:t>Les ventes ou les achats d’une entreprise</a:t>
            </a:r>
          </a:p>
        </p:txBody>
      </p:sp>
      <p:sp>
        <p:nvSpPr>
          <p:cNvPr id="12" name="ZoneTexte 11"/>
          <p:cNvSpPr txBox="1"/>
          <p:nvPr/>
        </p:nvSpPr>
        <p:spPr>
          <a:xfrm>
            <a:off x="4644008" y="3651876"/>
            <a:ext cx="4320480" cy="923330"/>
          </a:xfrm>
          <a:prstGeom prst="rect">
            <a:avLst/>
          </a:prstGeom>
          <a:noFill/>
        </p:spPr>
        <p:txBody>
          <a:bodyPr wrap="square" rtlCol="0">
            <a:spAutoFit/>
          </a:bodyPr>
          <a:lstStyle/>
          <a:p>
            <a:pPr algn="ctr">
              <a:buFont typeface="Wingdings" pitchFamily="2" charset="2"/>
              <a:buChar char="Ø"/>
            </a:pPr>
            <a:r>
              <a:rPr lang="fr-FR" b="1" dirty="0">
                <a:latin typeface="Times New Roman" pitchFamily="18" charset="0"/>
                <a:cs typeface="Times New Roman" pitchFamily="18" charset="0"/>
              </a:rPr>
              <a:t>Le prix </a:t>
            </a:r>
          </a:p>
          <a:p>
            <a:pPr algn="ctr">
              <a:buFont typeface="Wingdings" pitchFamily="2" charset="2"/>
              <a:buChar char="Ø"/>
            </a:pPr>
            <a:r>
              <a:rPr lang="fr-FR" b="1" dirty="0">
                <a:latin typeface="Times New Roman" pitchFamily="18" charset="0"/>
                <a:cs typeface="Times New Roman" pitchFamily="18" charset="0"/>
              </a:rPr>
              <a:t>Le coût </a:t>
            </a:r>
          </a:p>
          <a:p>
            <a:pPr algn="ctr">
              <a:buFont typeface="Wingdings" pitchFamily="2" charset="2"/>
              <a:buChar char="Ø"/>
            </a:pPr>
            <a:r>
              <a:rPr lang="fr-FR" b="1" dirty="0">
                <a:latin typeface="Times New Roman" pitchFamily="18" charset="0"/>
                <a:cs typeface="Times New Roman" pitchFamily="18" charset="0"/>
              </a:rPr>
              <a:t>La quantité </a:t>
            </a:r>
          </a:p>
        </p:txBody>
      </p:sp>
      <p:sp>
        <p:nvSpPr>
          <p:cNvPr id="13" name="ZoneTexte 12"/>
          <p:cNvSpPr txBox="1"/>
          <p:nvPr/>
        </p:nvSpPr>
        <p:spPr>
          <a:xfrm>
            <a:off x="251520" y="4709930"/>
            <a:ext cx="4248472" cy="369332"/>
          </a:xfrm>
          <a:prstGeom prst="rect">
            <a:avLst/>
          </a:prstGeom>
          <a:noFill/>
        </p:spPr>
        <p:txBody>
          <a:bodyPr wrap="square" rtlCol="0">
            <a:spAutoFit/>
          </a:bodyPr>
          <a:lstStyle/>
          <a:p>
            <a:pPr algn="ctr"/>
            <a:r>
              <a:rPr lang="fr-FR" b="1" dirty="0"/>
              <a:t>Les votants lors d’une élection</a:t>
            </a:r>
          </a:p>
        </p:txBody>
      </p:sp>
      <p:sp>
        <p:nvSpPr>
          <p:cNvPr id="14" name="ZoneTexte 13"/>
          <p:cNvSpPr txBox="1"/>
          <p:nvPr/>
        </p:nvSpPr>
        <p:spPr>
          <a:xfrm>
            <a:off x="251520" y="5358002"/>
            <a:ext cx="4248472" cy="369332"/>
          </a:xfrm>
          <a:prstGeom prst="rect">
            <a:avLst/>
          </a:prstGeom>
          <a:noFill/>
        </p:spPr>
        <p:txBody>
          <a:bodyPr wrap="square" rtlCol="0">
            <a:spAutoFit/>
          </a:bodyPr>
          <a:lstStyle/>
          <a:p>
            <a:pPr algn="ctr"/>
            <a:r>
              <a:rPr lang="fr-FR" b="1" dirty="0"/>
              <a:t>L’air des villes industrialisées</a:t>
            </a:r>
          </a:p>
        </p:txBody>
      </p:sp>
      <p:sp>
        <p:nvSpPr>
          <p:cNvPr id="15" name="ZoneTexte 14"/>
          <p:cNvSpPr txBox="1"/>
          <p:nvPr/>
        </p:nvSpPr>
        <p:spPr>
          <a:xfrm>
            <a:off x="287524" y="2092168"/>
            <a:ext cx="4176464" cy="369332"/>
          </a:xfrm>
          <a:prstGeom prst="rect">
            <a:avLst/>
          </a:prstGeom>
          <a:noFill/>
        </p:spPr>
        <p:txBody>
          <a:bodyPr wrap="square" rtlCol="0">
            <a:spAutoFit/>
          </a:bodyPr>
          <a:lstStyle/>
          <a:p>
            <a:pPr algn="ctr"/>
            <a:r>
              <a:rPr lang="fr-FR" b="1" dirty="0"/>
              <a:t>Population</a:t>
            </a:r>
            <a:r>
              <a:rPr lang="fr-FR" dirty="0"/>
              <a:t> </a:t>
            </a:r>
          </a:p>
        </p:txBody>
      </p:sp>
      <p:sp>
        <p:nvSpPr>
          <p:cNvPr id="16" name="ZoneTexte 15"/>
          <p:cNvSpPr txBox="1"/>
          <p:nvPr/>
        </p:nvSpPr>
        <p:spPr>
          <a:xfrm>
            <a:off x="4644008" y="2117642"/>
            <a:ext cx="4248472" cy="369332"/>
          </a:xfrm>
          <a:prstGeom prst="rect">
            <a:avLst/>
          </a:prstGeom>
          <a:noFill/>
        </p:spPr>
        <p:txBody>
          <a:bodyPr wrap="square" rtlCol="0">
            <a:spAutoFit/>
          </a:bodyPr>
          <a:lstStyle/>
          <a:p>
            <a:pPr algn="ctr"/>
            <a:r>
              <a:rPr lang="fr-FR" b="1" dirty="0">
                <a:latin typeface="Times New Roman" pitchFamily="18" charset="0"/>
                <a:cs typeface="Times New Roman" pitchFamily="18" charset="0"/>
              </a:rPr>
              <a:t>Variables (critères étudiés</a:t>
            </a:r>
            <a:r>
              <a:rPr lang="fr-FR" dirty="0"/>
              <a:t>) </a:t>
            </a:r>
          </a:p>
        </p:txBody>
      </p:sp>
      <p:sp>
        <p:nvSpPr>
          <p:cNvPr id="17" name="ZoneTexte 16"/>
          <p:cNvSpPr txBox="1"/>
          <p:nvPr/>
        </p:nvSpPr>
        <p:spPr>
          <a:xfrm>
            <a:off x="4644008" y="4787860"/>
            <a:ext cx="4248472" cy="369332"/>
          </a:xfrm>
          <a:prstGeom prst="rect">
            <a:avLst/>
          </a:prstGeom>
          <a:noFill/>
        </p:spPr>
        <p:txBody>
          <a:bodyPr wrap="square" rtlCol="0">
            <a:spAutoFit/>
          </a:bodyPr>
          <a:lstStyle/>
          <a:p>
            <a:pPr algn="ctr">
              <a:buFont typeface="Wingdings" pitchFamily="2" charset="2"/>
              <a:buChar char="Ø"/>
            </a:pPr>
            <a:r>
              <a:rPr lang="fr-FR" b="1" dirty="0">
                <a:latin typeface="Times New Roman" pitchFamily="18" charset="0"/>
                <a:cs typeface="Times New Roman" pitchFamily="18" charset="0"/>
              </a:rPr>
              <a:t>L’opinion ou l’avis </a:t>
            </a:r>
          </a:p>
        </p:txBody>
      </p:sp>
      <p:sp>
        <p:nvSpPr>
          <p:cNvPr id="18" name="ZoneTexte 17"/>
          <p:cNvSpPr txBox="1"/>
          <p:nvPr/>
        </p:nvSpPr>
        <p:spPr>
          <a:xfrm>
            <a:off x="4644008" y="5225019"/>
            <a:ext cx="4248472" cy="646331"/>
          </a:xfrm>
          <a:prstGeom prst="rect">
            <a:avLst/>
          </a:prstGeom>
          <a:noFill/>
        </p:spPr>
        <p:txBody>
          <a:bodyPr wrap="square" rtlCol="0">
            <a:spAutoFit/>
          </a:bodyPr>
          <a:lstStyle/>
          <a:p>
            <a:pPr algn="ctr">
              <a:buFont typeface="Wingdings" pitchFamily="2" charset="2"/>
              <a:buChar char="Ø"/>
            </a:pPr>
            <a:r>
              <a:rPr lang="fr-FR" b="1" dirty="0">
                <a:solidFill>
                  <a:schemeClr val="dk1"/>
                </a:solidFill>
                <a:latin typeface="Times New Roman" pitchFamily="18" charset="0"/>
                <a:cs typeface="Times New Roman" pitchFamily="18" charset="0"/>
              </a:rPr>
              <a:t>La qualité ou la pollution (quantité de CO₂)</a:t>
            </a:r>
          </a:p>
        </p:txBody>
      </p:sp>
    </p:spTree>
    <p:extLst>
      <p:ext uri="{BB962C8B-B14F-4D97-AF65-F5344CB8AC3E}">
        <p14:creationId xmlns:p14="http://schemas.microsoft.com/office/powerpoint/2010/main" val="219805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19" fill="hold">
                            <p:stCondLst>
                              <p:cond delay="500"/>
                            </p:stCondLst>
                            <p:childTnLst>
                              <p:par>
                                <p:cTn id="20" presetID="16" presetClass="entr" presetSubtype="21"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arn(inVertical)">
                                      <p:cBhvr>
                                        <p:cTn id="22" dur="500"/>
                                        <p:tgtEl>
                                          <p:spTgt spid="15"/>
                                        </p:tgtEl>
                                      </p:cBhvr>
                                    </p:animEffect>
                                  </p:childTnLst>
                                </p:cTn>
                              </p:par>
                            </p:childTnLst>
                          </p:cTn>
                        </p:par>
                        <p:par>
                          <p:cTn id="23" fill="hold">
                            <p:stCondLst>
                              <p:cond delay="1000"/>
                            </p:stCondLst>
                            <p:childTnLst>
                              <p:par>
                                <p:cTn id="24" presetID="16" presetClass="entr" presetSubtype="21"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barn(inVertical)">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xEl>
                                              <p:pRg st="0" end="0"/>
                                            </p:txEl>
                                          </p:spTgt>
                                        </p:tgtEl>
                                        <p:attrNameLst>
                                          <p:attrName>style.visibility</p:attrName>
                                        </p:attrNameLst>
                                      </p:cBhvr>
                                      <p:to>
                                        <p:strVal val="visible"/>
                                      </p:to>
                                    </p:set>
                                    <p:animEffect transition="in" filter="fade">
                                      <p:cBhvr>
                                        <p:cTn id="36" dur="500"/>
                                        <p:tgtEl>
                                          <p:spTgt spid="10">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
                                            <p:txEl>
                                              <p:pRg st="1" end="1"/>
                                            </p:txEl>
                                          </p:spTgt>
                                        </p:tgtEl>
                                        <p:attrNameLst>
                                          <p:attrName>style.visibility</p:attrName>
                                        </p:attrNameLst>
                                      </p:cBhvr>
                                      <p:to>
                                        <p:strVal val="visible"/>
                                      </p:to>
                                    </p:set>
                                    <p:animEffect transition="in" filter="fade">
                                      <p:cBhvr>
                                        <p:cTn id="41" dur="500"/>
                                        <p:tgtEl>
                                          <p:spTgt spid="10">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
                                            <p:txEl>
                                              <p:pRg st="2" end="2"/>
                                            </p:txEl>
                                          </p:spTgt>
                                        </p:tgtEl>
                                        <p:attrNameLst>
                                          <p:attrName>style.visibility</p:attrName>
                                        </p:attrNameLst>
                                      </p:cBhvr>
                                      <p:to>
                                        <p:strVal val="visible"/>
                                      </p:to>
                                    </p:set>
                                    <p:animEffect transition="in" filter="fade">
                                      <p:cBhvr>
                                        <p:cTn id="46" dur="500"/>
                                        <p:tgtEl>
                                          <p:spTgt spid="10">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2">
                                            <p:txEl>
                                              <p:pRg st="0" end="0"/>
                                            </p:txEl>
                                          </p:spTgt>
                                        </p:tgtEl>
                                        <p:attrNameLst>
                                          <p:attrName>style.visibility</p:attrName>
                                        </p:attrNameLst>
                                      </p:cBhvr>
                                      <p:to>
                                        <p:strVal val="visible"/>
                                      </p:to>
                                    </p:set>
                                    <p:animEffect transition="in" filter="fade">
                                      <p:cBhvr>
                                        <p:cTn id="56" dur="500"/>
                                        <p:tgtEl>
                                          <p:spTgt spid="12">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2">
                                            <p:txEl>
                                              <p:pRg st="1" end="1"/>
                                            </p:txEl>
                                          </p:spTgt>
                                        </p:tgtEl>
                                        <p:attrNameLst>
                                          <p:attrName>style.visibility</p:attrName>
                                        </p:attrNameLst>
                                      </p:cBhvr>
                                      <p:to>
                                        <p:strVal val="visible"/>
                                      </p:to>
                                    </p:set>
                                    <p:animEffect transition="in" filter="fade">
                                      <p:cBhvr>
                                        <p:cTn id="61" dur="500"/>
                                        <p:tgtEl>
                                          <p:spTgt spid="12">
                                            <p:txEl>
                                              <p:pRg st="1" end="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2">
                                            <p:txEl>
                                              <p:pRg st="2" end="2"/>
                                            </p:txEl>
                                          </p:spTgt>
                                        </p:tgtEl>
                                        <p:attrNameLst>
                                          <p:attrName>style.visibility</p:attrName>
                                        </p:attrNameLst>
                                      </p:cBhvr>
                                      <p:to>
                                        <p:strVal val="visible"/>
                                      </p:to>
                                    </p:set>
                                    <p:animEffect transition="in" filter="fade">
                                      <p:cBhvr>
                                        <p:cTn id="66" dur="500"/>
                                        <p:tgtEl>
                                          <p:spTgt spid="12">
                                            <p:txEl>
                                              <p:pRg st="2" end="2"/>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500"/>
                                        <p:tgtEl>
                                          <p:spTgt spid="1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0" grpId="0" build="p"/>
      <p:bldP spid="11" grpId="0"/>
      <p:bldP spid="12" grpId="0" build="p"/>
      <p:bldP spid="13" grpId="0"/>
      <p:bldP spid="14" grpId="0"/>
      <p:bldP spid="15" grpId="0"/>
      <p:bldP spid="16" grpId="0"/>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a:bodyPr>
          <a:lstStyle/>
          <a:p>
            <a:pPr algn="l"/>
            <a:r>
              <a:rPr lang="fr-FR" sz="3200" dirty="0">
                <a:solidFill>
                  <a:schemeClr val="bg1"/>
                </a:solidFill>
              </a:rPr>
              <a:t>Application   </a:t>
            </a:r>
          </a:p>
        </p:txBody>
      </p:sp>
      <p:graphicFrame>
        <p:nvGraphicFramePr>
          <p:cNvPr id="6" name="Tableau 5"/>
          <p:cNvGraphicFramePr>
            <a:graphicFrameLocks noGrp="1"/>
          </p:cNvGraphicFramePr>
          <p:nvPr>
            <p:extLst>
              <p:ext uri="{D42A27DB-BD31-4B8C-83A1-F6EECF244321}">
                <p14:modId xmlns:p14="http://schemas.microsoft.com/office/powerpoint/2010/main" val="960385050"/>
              </p:ext>
            </p:extLst>
          </p:nvPr>
        </p:nvGraphicFramePr>
        <p:xfrm>
          <a:off x="251520" y="3165476"/>
          <a:ext cx="8712968" cy="3071836"/>
        </p:xfrm>
        <a:graphic>
          <a:graphicData uri="http://schemas.openxmlformats.org/drawingml/2006/table">
            <a:tbl>
              <a:tblPr>
                <a:tableStyleId>{D7AC3CCA-C797-4891-BE02-D94E43425B78}</a:tableStyleId>
              </a:tblPr>
              <a:tblGrid>
                <a:gridCol w="3564396">
                  <a:extLst>
                    <a:ext uri="{9D8B030D-6E8A-4147-A177-3AD203B41FA5}">
                      <a16:colId xmlns:a16="http://schemas.microsoft.com/office/drawing/2014/main" val="20000"/>
                    </a:ext>
                  </a:extLst>
                </a:gridCol>
                <a:gridCol w="5148572">
                  <a:extLst>
                    <a:ext uri="{9D8B030D-6E8A-4147-A177-3AD203B41FA5}">
                      <a16:colId xmlns:a16="http://schemas.microsoft.com/office/drawing/2014/main" val="20001"/>
                    </a:ext>
                  </a:extLst>
                </a:gridCol>
              </a:tblGrid>
              <a:tr h="767959">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767959">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767959">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767959">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sp>
        <p:nvSpPr>
          <p:cNvPr id="7" name="Rectangle 6"/>
          <p:cNvSpPr/>
          <p:nvPr/>
        </p:nvSpPr>
        <p:spPr>
          <a:xfrm>
            <a:off x="107504" y="764704"/>
            <a:ext cx="8928992" cy="4062651"/>
          </a:xfrm>
          <a:prstGeom prst="rect">
            <a:avLst/>
          </a:prstGeom>
        </p:spPr>
        <p:txBody>
          <a:bodyPr wrap="square">
            <a:spAutoFit/>
          </a:bodyPr>
          <a:lstStyle/>
          <a:p>
            <a:r>
              <a:rPr lang="fr-FR" sz="2000" b="1" u="sng" dirty="0"/>
              <a:t>Exercice 1</a:t>
            </a:r>
          </a:p>
          <a:p>
            <a:pPr>
              <a:spcBef>
                <a:spcPts val="1200"/>
              </a:spcBef>
            </a:pPr>
            <a:r>
              <a:rPr lang="fr-FR" sz="2000" dirty="0"/>
              <a:t>On réalise une étude sur la répartition selon le sexe de 400 étudiants de la filière économie-droit à l’université.</a:t>
            </a:r>
          </a:p>
          <a:p>
            <a:pPr>
              <a:spcBef>
                <a:spcPts val="1200"/>
              </a:spcBef>
            </a:pPr>
            <a:r>
              <a:rPr lang="fr-FR" sz="2000" b="1" dirty="0">
                <a:solidFill>
                  <a:srgbClr val="0070C0"/>
                </a:solidFill>
              </a:rPr>
              <a:t>Question</a:t>
            </a:r>
            <a:r>
              <a:rPr lang="fr-FR" sz="2000" dirty="0"/>
              <a:t> </a:t>
            </a:r>
          </a:p>
          <a:p>
            <a:r>
              <a:rPr lang="fr-FR" sz="2000" dirty="0"/>
              <a:t>Traduisez ces informations dans le vocabulaire de la statistique descriptive.</a:t>
            </a:r>
          </a:p>
          <a:p>
            <a:pPr>
              <a:spcBef>
                <a:spcPts val="1200"/>
              </a:spcBef>
            </a:pPr>
            <a:r>
              <a:rPr lang="fr-FR" sz="2000" b="1" dirty="0">
                <a:solidFill>
                  <a:srgbClr val="0070C0"/>
                </a:solidFill>
              </a:rPr>
              <a:t>Réponse</a:t>
            </a:r>
            <a:r>
              <a:rPr lang="fr-FR" sz="2000" dirty="0"/>
              <a:t> </a:t>
            </a:r>
          </a:p>
          <a:p>
            <a:endParaRPr lang="fr-FR" dirty="0"/>
          </a:p>
          <a:p>
            <a:endParaRPr lang="fr-FR" dirty="0"/>
          </a:p>
          <a:p>
            <a:endParaRPr lang="fr-FR" dirty="0"/>
          </a:p>
          <a:p>
            <a:endParaRPr lang="fr-FR" dirty="0"/>
          </a:p>
          <a:p>
            <a:endParaRPr lang="fr-FR" dirty="0"/>
          </a:p>
          <a:p>
            <a:endParaRPr lang="fr-FR" dirty="0"/>
          </a:p>
        </p:txBody>
      </p:sp>
      <p:sp>
        <p:nvSpPr>
          <p:cNvPr id="5" name="Espace réservé de la date 4"/>
          <p:cNvSpPr>
            <a:spLocks noGrp="1"/>
          </p:cNvSpPr>
          <p:nvPr>
            <p:ph type="dt" sz="half" idx="10"/>
          </p:nvPr>
        </p:nvSpPr>
        <p:spPr/>
        <p:txBody>
          <a:bodyPr/>
          <a:lstStyle/>
          <a:p>
            <a:fld id="{C5221299-D570-42FE-809F-7D080D7FA894}" type="datetime1">
              <a:rPr lang="fr-FR" smtClean="0"/>
              <a:t>23/02/2026</a:t>
            </a:fld>
            <a:endParaRPr lang="fr-FR"/>
          </a:p>
        </p:txBody>
      </p:sp>
      <p:sp>
        <p:nvSpPr>
          <p:cNvPr id="8" name="Espace réservé du numéro de diapositive 7"/>
          <p:cNvSpPr>
            <a:spLocks noGrp="1"/>
          </p:cNvSpPr>
          <p:nvPr>
            <p:ph type="sldNum" sz="quarter" idx="12"/>
          </p:nvPr>
        </p:nvSpPr>
        <p:spPr/>
        <p:txBody>
          <a:bodyPr/>
          <a:lstStyle/>
          <a:p>
            <a:fld id="{ACD63441-67CA-4275-B112-E958F8793EB2}" type="slidenum">
              <a:rPr lang="fr-FR" smtClean="0"/>
              <a:pPr/>
              <a:t>8</a:t>
            </a:fld>
            <a:endParaRPr lang="fr-FR"/>
          </a:p>
        </p:txBody>
      </p:sp>
      <p:sp>
        <p:nvSpPr>
          <p:cNvPr id="9" name="Espace réservé du pied de page 8"/>
          <p:cNvSpPr>
            <a:spLocks noGrp="1"/>
          </p:cNvSpPr>
          <p:nvPr>
            <p:ph type="ftr" sz="quarter" idx="11"/>
          </p:nvPr>
        </p:nvSpPr>
        <p:spPr/>
        <p:txBody>
          <a:bodyPr/>
          <a:lstStyle/>
          <a:p>
            <a:r>
              <a:rPr lang="fr-FR"/>
              <a:t>Introduction à la Statistique descriptive</a:t>
            </a:r>
          </a:p>
        </p:txBody>
      </p:sp>
      <p:sp>
        <p:nvSpPr>
          <p:cNvPr id="41" name="ZoneTexte 40"/>
          <p:cNvSpPr txBox="1"/>
          <p:nvPr/>
        </p:nvSpPr>
        <p:spPr>
          <a:xfrm>
            <a:off x="1000100" y="3357562"/>
            <a:ext cx="2143140" cy="369332"/>
          </a:xfrm>
          <a:prstGeom prst="rect">
            <a:avLst/>
          </a:prstGeom>
          <a:noFill/>
        </p:spPr>
        <p:txBody>
          <a:bodyPr wrap="square" rtlCol="0">
            <a:spAutoFit/>
          </a:bodyPr>
          <a:lstStyle/>
          <a:p>
            <a:pPr algn="ctr"/>
            <a:r>
              <a:rPr lang="fr-FR" b="1" dirty="0"/>
              <a:t>Population</a:t>
            </a:r>
            <a:endParaRPr lang="fr-FR" b="1" dirty="0">
              <a:ea typeface="Calibri"/>
              <a:cs typeface="Times New Roman"/>
            </a:endParaRPr>
          </a:p>
        </p:txBody>
      </p:sp>
      <p:sp>
        <p:nvSpPr>
          <p:cNvPr id="42" name="ZoneTexte 41"/>
          <p:cNvSpPr txBox="1"/>
          <p:nvPr/>
        </p:nvSpPr>
        <p:spPr>
          <a:xfrm>
            <a:off x="1000100" y="4071942"/>
            <a:ext cx="1928826" cy="369332"/>
          </a:xfrm>
          <a:prstGeom prst="rect">
            <a:avLst/>
          </a:prstGeom>
          <a:noFill/>
        </p:spPr>
        <p:txBody>
          <a:bodyPr wrap="square" rtlCol="0">
            <a:spAutoFit/>
          </a:bodyPr>
          <a:lstStyle/>
          <a:p>
            <a:pPr algn="ctr"/>
            <a:r>
              <a:rPr lang="fr-FR" b="1" dirty="0"/>
              <a:t>Unité Statistique</a:t>
            </a:r>
            <a:endParaRPr lang="fr-FR" b="1" dirty="0">
              <a:ea typeface="Calibri"/>
              <a:cs typeface="Times New Roman"/>
            </a:endParaRPr>
          </a:p>
        </p:txBody>
      </p:sp>
      <p:sp>
        <p:nvSpPr>
          <p:cNvPr id="43" name="ZoneTexte 42"/>
          <p:cNvSpPr txBox="1"/>
          <p:nvPr/>
        </p:nvSpPr>
        <p:spPr>
          <a:xfrm>
            <a:off x="285720" y="4786322"/>
            <a:ext cx="3500462" cy="369332"/>
          </a:xfrm>
          <a:prstGeom prst="rect">
            <a:avLst/>
          </a:prstGeom>
          <a:noFill/>
        </p:spPr>
        <p:txBody>
          <a:bodyPr wrap="square" rtlCol="0">
            <a:spAutoFit/>
          </a:bodyPr>
          <a:lstStyle/>
          <a:p>
            <a:pPr algn="ctr"/>
            <a:r>
              <a:rPr lang="fr-FR" b="1" dirty="0"/>
              <a:t>Variable ou caractère statistique</a:t>
            </a:r>
            <a:endParaRPr lang="fr-FR" b="1" dirty="0">
              <a:ea typeface="Calibri"/>
              <a:cs typeface="Times New Roman"/>
            </a:endParaRPr>
          </a:p>
        </p:txBody>
      </p:sp>
      <p:sp>
        <p:nvSpPr>
          <p:cNvPr id="44" name="ZoneTexte 43"/>
          <p:cNvSpPr txBox="1"/>
          <p:nvPr/>
        </p:nvSpPr>
        <p:spPr>
          <a:xfrm>
            <a:off x="928662" y="5572140"/>
            <a:ext cx="2286016" cy="369332"/>
          </a:xfrm>
          <a:prstGeom prst="rect">
            <a:avLst/>
          </a:prstGeom>
          <a:noFill/>
        </p:spPr>
        <p:txBody>
          <a:bodyPr wrap="square" rtlCol="0">
            <a:spAutoFit/>
          </a:bodyPr>
          <a:lstStyle/>
          <a:p>
            <a:pPr algn="ctr"/>
            <a:r>
              <a:rPr lang="fr-FR" b="1" dirty="0"/>
              <a:t>Modalités</a:t>
            </a:r>
            <a:endParaRPr lang="fr-FR" b="1" dirty="0">
              <a:ea typeface="Calibri"/>
              <a:cs typeface="Times New Roman"/>
            </a:endParaRPr>
          </a:p>
        </p:txBody>
      </p:sp>
      <p:sp>
        <p:nvSpPr>
          <p:cNvPr id="45" name="ZoneTexte 44"/>
          <p:cNvSpPr txBox="1"/>
          <p:nvPr/>
        </p:nvSpPr>
        <p:spPr>
          <a:xfrm>
            <a:off x="4860032" y="3357562"/>
            <a:ext cx="3000396" cy="369332"/>
          </a:xfrm>
          <a:prstGeom prst="rect">
            <a:avLst/>
          </a:prstGeom>
          <a:noFill/>
        </p:spPr>
        <p:txBody>
          <a:bodyPr wrap="square" rtlCol="0" anchor="ctr">
            <a:spAutoFit/>
          </a:bodyPr>
          <a:lstStyle/>
          <a:p>
            <a:pPr algn="ctr"/>
            <a:r>
              <a:rPr lang="fr-FR" b="1" dirty="0"/>
              <a:t>400 étudiants de EG</a:t>
            </a:r>
            <a:endParaRPr lang="fr-FR" b="1" dirty="0">
              <a:ea typeface="Calibri"/>
              <a:cs typeface="Times New Roman"/>
            </a:endParaRPr>
          </a:p>
        </p:txBody>
      </p:sp>
      <p:sp>
        <p:nvSpPr>
          <p:cNvPr id="46" name="ZoneTexte 45"/>
          <p:cNvSpPr txBox="1"/>
          <p:nvPr/>
        </p:nvSpPr>
        <p:spPr>
          <a:xfrm>
            <a:off x="4500562" y="4143380"/>
            <a:ext cx="4071966" cy="369332"/>
          </a:xfrm>
          <a:prstGeom prst="rect">
            <a:avLst/>
          </a:prstGeom>
          <a:noFill/>
        </p:spPr>
        <p:txBody>
          <a:bodyPr wrap="square" rtlCol="0">
            <a:spAutoFit/>
          </a:bodyPr>
          <a:lstStyle/>
          <a:p>
            <a:pPr algn="ctr"/>
            <a:r>
              <a:rPr lang="fr-FR" b="1" dirty="0"/>
              <a:t>Chaque étudiant de la filière EG</a:t>
            </a:r>
            <a:endParaRPr lang="fr-FR" b="1" dirty="0">
              <a:ea typeface="Calibri"/>
              <a:cs typeface="Times New Roman"/>
            </a:endParaRPr>
          </a:p>
        </p:txBody>
      </p:sp>
      <p:sp>
        <p:nvSpPr>
          <p:cNvPr id="47" name="ZoneTexte 46"/>
          <p:cNvSpPr txBox="1"/>
          <p:nvPr/>
        </p:nvSpPr>
        <p:spPr>
          <a:xfrm>
            <a:off x="4572000" y="4786322"/>
            <a:ext cx="3643338" cy="369332"/>
          </a:xfrm>
          <a:prstGeom prst="rect">
            <a:avLst/>
          </a:prstGeom>
          <a:noFill/>
        </p:spPr>
        <p:txBody>
          <a:bodyPr wrap="square" rtlCol="0">
            <a:spAutoFit/>
          </a:bodyPr>
          <a:lstStyle/>
          <a:p>
            <a:pPr algn="ctr"/>
            <a:r>
              <a:rPr lang="fr-FR" b="1" dirty="0"/>
              <a:t>Sexe</a:t>
            </a:r>
            <a:endParaRPr lang="fr-FR" b="1" dirty="0">
              <a:ea typeface="Calibri"/>
              <a:cs typeface="Times New Roman"/>
            </a:endParaRPr>
          </a:p>
        </p:txBody>
      </p:sp>
      <p:sp>
        <p:nvSpPr>
          <p:cNvPr id="48" name="ZoneTexte 47"/>
          <p:cNvSpPr txBox="1"/>
          <p:nvPr/>
        </p:nvSpPr>
        <p:spPr>
          <a:xfrm>
            <a:off x="4429124" y="5572140"/>
            <a:ext cx="4143404" cy="369332"/>
          </a:xfrm>
          <a:prstGeom prst="rect">
            <a:avLst/>
          </a:prstGeom>
          <a:noFill/>
        </p:spPr>
        <p:txBody>
          <a:bodyPr wrap="square" rtlCol="0">
            <a:spAutoFit/>
          </a:bodyPr>
          <a:lstStyle/>
          <a:p>
            <a:pPr algn="ctr"/>
            <a:r>
              <a:rPr lang="fr-FR" b="1" dirty="0"/>
              <a:t>Féminin  et  Masculin</a:t>
            </a:r>
            <a:endParaRPr lang="fr-FR" b="1" dirty="0">
              <a:ea typeface="Calibri"/>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arn(inVertical)">
                                      <p:cBhvr>
                                        <p:cTn id="7" dur="500"/>
                                        <p:tgtEl>
                                          <p:spTgt spid="7">
                                            <p:txEl>
                                              <p:pRg st="0" end="0"/>
                                            </p:txEl>
                                          </p:spTgt>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barn(inVertical)">
                                      <p:cBhvr>
                                        <p:cTn id="11" dur="500"/>
                                        <p:tgtEl>
                                          <p:spTgt spid="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fade">
                                      <p:cBhvr>
                                        <p:cTn id="16" dur="500"/>
                                        <p:tgtEl>
                                          <p:spTgt spid="7">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fade">
                                      <p:cBhvr>
                                        <p:cTn id="19" dur="500"/>
                                        <p:tgtEl>
                                          <p:spTgt spid="7">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500"/>
                                        <p:tgtEl>
                                          <p:spTgt spid="7">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arn(inVertical)">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barn(inVertical)">
                                      <p:cBhvr>
                                        <p:cTn id="34" dur="500"/>
                                        <p:tgtEl>
                                          <p:spTgt spid="41"/>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barn(inVertical)">
                                      <p:cBhvr>
                                        <p:cTn id="37" dur="500"/>
                                        <p:tgtEl>
                                          <p:spTgt spid="42"/>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barn(inVertical)">
                                      <p:cBhvr>
                                        <p:cTn id="40" dur="500"/>
                                        <p:tgtEl>
                                          <p:spTgt spid="43"/>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barn(inVertical)">
                                      <p:cBhvr>
                                        <p:cTn id="43" dur="500"/>
                                        <p:tgtEl>
                                          <p:spTgt spid="44"/>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barn(inVertical)">
                                      <p:cBhvr>
                                        <p:cTn id="48" dur="500"/>
                                        <p:tgtEl>
                                          <p:spTgt spid="45"/>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barn(inVertical)">
                                      <p:cBhvr>
                                        <p:cTn id="53" dur="500"/>
                                        <p:tgtEl>
                                          <p:spTgt spid="46"/>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barn(inVertical)">
                                      <p:cBhvr>
                                        <p:cTn id="58" dur="500"/>
                                        <p:tgtEl>
                                          <p:spTgt spid="47"/>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barn(inVertical)">
                                      <p:cBhvr>
                                        <p:cTn id="6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41" grpId="0"/>
      <p:bldP spid="42" grpId="0"/>
      <p:bldP spid="43" grpId="0"/>
      <p:bldP spid="44" grpId="0"/>
      <p:bldP spid="45" grpId="0"/>
      <p:bldP spid="46" grpId="0"/>
      <p:bldP spid="47" grpId="0"/>
      <p:bldP spid="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fontScale="90000"/>
          </a:bodyPr>
          <a:lstStyle/>
          <a:p>
            <a:pPr algn="l"/>
            <a:r>
              <a:rPr lang="fr-FR" sz="3600" dirty="0">
                <a:solidFill>
                  <a:schemeClr val="bg1"/>
                </a:solidFill>
              </a:rPr>
              <a:t>Application </a:t>
            </a:r>
            <a:r>
              <a:rPr lang="fr-FR" dirty="0">
                <a:solidFill>
                  <a:schemeClr val="bg1"/>
                </a:solidFill>
              </a:rPr>
              <a:t> </a:t>
            </a:r>
          </a:p>
        </p:txBody>
      </p:sp>
      <p:graphicFrame>
        <p:nvGraphicFramePr>
          <p:cNvPr id="6" name="Tableau 5"/>
          <p:cNvGraphicFramePr>
            <a:graphicFrameLocks noGrp="1"/>
          </p:cNvGraphicFramePr>
          <p:nvPr>
            <p:extLst>
              <p:ext uri="{D42A27DB-BD31-4B8C-83A1-F6EECF244321}">
                <p14:modId xmlns:p14="http://schemas.microsoft.com/office/powerpoint/2010/main" val="1527598152"/>
              </p:ext>
            </p:extLst>
          </p:nvPr>
        </p:nvGraphicFramePr>
        <p:xfrm>
          <a:off x="107504" y="3555019"/>
          <a:ext cx="8856984" cy="2826310"/>
        </p:xfrm>
        <a:graphic>
          <a:graphicData uri="http://schemas.openxmlformats.org/drawingml/2006/table">
            <a:tbl>
              <a:tblPr>
                <a:tableStyleId>{D7AC3CCA-C797-4891-BE02-D94E43425B78}</a:tableStyleId>
              </a:tblPr>
              <a:tblGrid>
                <a:gridCol w="3464364">
                  <a:extLst>
                    <a:ext uri="{9D8B030D-6E8A-4147-A177-3AD203B41FA5}">
                      <a16:colId xmlns:a16="http://schemas.microsoft.com/office/drawing/2014/main" val="20000"/>
                    </a:ext>
                  </a:extLst>
                </a:gridCol>
                <a:gridCol w="5392620">
                  <a:extLst>
                    <a:ext uri="{9D8B030D-6E8A-4147-A177-3AD203B41FA5}">
                      <a16:colId xmlns:a16="http://schemas.microsoft.com/office/drawing/2014/main" val="20001"/>
                    </a:ext>
                  </a:extLst>
                </a:gridCol>
              </a:tblGrid>
              <a:tr h="645878">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647016">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766708">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766708">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marL="342900" lvl="0" indent="-342900" algn="ctr">
                        <a:lnSpc>
                          <a:spcPct val="115000"/>
                        </a:lnSpc>
                        <a:spcAft>
                          <a:spcPts val="0"/>
                        </a:spcAft>
                        <a:buFont typeface="+mj-lt"/>
                        <a:buNone/>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sp>
        <p:nvSpPr>
          <p:cNvPr id="5" name="Rectangle 4"/>
          <p:cNvSpPr/>
          <p:nvPr/>
        </p:nvSpPr>
        <p:spPr>
          <a:xfrm>
            <a:off x="107504" y="692696"/>
            <a:ext cx="8928992" cy="2939266"/>
          </a:xfrm>
          <a:prstGeom prst="rect">
            <a:avLst/>
          </a:prstGeom>
        </p:spPr>
        <p:txBody>
          <a:bodyPr wrap="square">
            <a:spAutoFit/>
          </a:bodyPr>
          <a:lstStyle/>
          <a:p>
            <a:pPr algn="just"/>
            <a:r>
              <a:rPr lang="fr-FR" sz="2000" b="1" u="sng" dirty="0"/>
              <a:t>Exercice 2</a:t>
            </a:r>
          </a:p>
          <a:p>
            <a:pPr algn="just">
              <a:spcBef>
                <a:spcPts val="600"/>
              </a:spcBef>
            </a:pPr>
            <a:r>
              <a:rPr lang="fr-FR" sz="2000" dirty="0"/>
              <a:t>Dans une petite localité, on a relevé le niveau de confort des logements. Les résultats sont les suivants :</a:t>
            </a:r>
          </a:p>
          <a:p>
            <a:pPr algn="just"/>
            <a:r>
              <a:rPr lang="fr-FR" sz="2000" dirty="0"/>
              <a:t>(a) médiocre, (b) moyen, (c) bon, (d) très bon.</a:t>
            </a:r>
          </a:p>
          <a:p>
            <a:pPr lvl="0">
              <a:spcBef>
                <a:spcPts val="1200"/>
              </a:spcBef>
            </a:pPr>
            <a:r>
              <a:rPr lang="fr-FR" sz="2000" b="1" dirty="0">
                <a:solidFill>
                  <a:srgbClr val="0070C0"/>
                </a:solidFill>
              </a:rPr>
              <a:t>Question</a:t>
            </a:r>
            <a:r>
              <a:rPr lang="fr-FR" sz="2000" dirty="0"/>
              <a:t> </a:t>
            </a:r>
          </a:p>
          <a:p>
            <a:r>
              <a:rPr lang="fr-FR" sz="2000" dirty="0"/>
              <a:t>Traduisez ces informations dans le vocabulaire de la statistique descriptive.</a:t>
            </a:r>
          </a:p>
          <a:p>
            <a:pPr>
              <a:spcBef>
                <a:spcPts val="600"/>
              </a:spcBef>
            </a:pPr>
            <a:endParaRPr lang="fr-FR" sz="2000" b="1" dirty="0" smtClean="0">
              <a:solidFill>
                <a:srgbClr val="0070C0"/>
              </a:solidFill>
            </a:endParaRPr>
          </a:p>
          <a:p>
            <a:pPr>
              <a:spcBef>
                <a:spcPts val="600"/>
              </a:spcBef>
            </a:pPr>
            <a:r>
              <a:rPr lang="fr-FR" sz="2000" b="1" dirty="0" smtClean="0">
                <a:solidFill>
                  <a:srgbClr val="0070C0"/>
                </a:solidFill>
              </a:rPr>
              <a:t>Réponse</a:t>
            </a:r>
            <a:r>
              <a:rPr lang="fr-FR" sz="2000" dirty="0" smtClean="0"/>
              <a:t> </a:t>
            </a:r>
            <a:endParaRPr lang="fr-FR" sz="2000" dirty="0"/>
          </a:p>
        </p:txBody>
      </p:sp>
      <p:sp>
        <p:nvSpPr>
          <p:cNvPr id="7" name="Espace réservé de la date 6"/>
          <p:cNvSpPr>
            <a:spLocks noGrp="1"/>
          </p:cNvSpPr>
          <p:nvPr>
            <p:ph type="dt" sz="half" idx="10"/>
          </p:nvPr>
        </p:nvSpPr>
        <p:spPr/>
        <p:txBody>
          <a:bodyPr/>
          <a:lstStyle/>
          <a:p>
            <a:fld id="{BEFC6E9E-71F9-4C90-9D5D-BAB5D96A7510}" type="datetime1">
              <a:rPr lang="fr-FR" smtClean="0"/>
              <a:t>23/02/2026</a:t>
            </a:fld>
            <a:endParaRPr lang="fr-FR"/>
          </a:p>
        </p:txBody>
      </p:sp>
      <p:sp>
        <p:nvSpPr>
          <p:cNvPr id="8" name="Espace réservé du numéro de diapositive 7"/>
          <p:cNvSpPr>
            <a:spLocks noGrp="1"/>
          </p:cNvSpPr>
          <p:nvPr>
            <p:ph type="sldNum" sz="quarter" idx="12"/>
          </p:nvPr>
        </p:nvSpPr>
        <p:spPr/>
        <p:txBody>
          <a:bodyPr/>
          <a:lstStyle/>
          <a:p>
            <a:fld id="{ACD63441-67CA-4275-B112-E958F8793EB2}" type="slidenum">
              <a:rPr lang="fr-FR" smtClean="0"/>
              <a:pPr/>
              <a:t>9</a:t>
            </a:fld>
            <a:endParaRPr lang="fr-FR"/>
          </a:p>
        </p:txBody>
      </p:sp>
      <p:sp>
        <p:nvSpPr>
          <p:cNvPr id="9" name="Espace réservé du pied de page 8"/>
          <p:cNvSpPr>
            <a:spLocks noGrp="1"/>
          </p:cNvSpPr>
          <p:nvPr>
            <p:ph type="ftr" sz="quarter" idx="11"/>
          </p:nvPr>
        </p:nvSpPr>
        <p:spPr/>
        <p:txBody>
          <a:bodyPr/>
          <a:lstStyle/>
          <a:p>
            <a:r>
              <a:rPr lang="fr-FR"/>
              <a:t>Introduction à la Statistique descriptive</a:t>
            </a:r>
          </a:p>
        </p:txBody>
      </p:sp>
      <p:sp>
        <p:nvSpPr>
          <p:cNvPr id="10" name="ZoneTexte 9"/>
          <p:cNvSpPr txBox="1"/>
          <p:nvPr/>
        </p:nvSpPr>
        <p:spPr>
          <a:xfrm>
            <a:off x="714348" y="3702610"/>
            <a:ext cx="2214578" cy="369332"/>
          </a:xfrm>
          <a:prstGeom prst="rect">
            <a:avLst/>
          </a:prstGeom>
          <a:noFill/>
        </p:spPr>
        <p:txBody>
          <a:bodyPr wrap="square" rtlCol="0">
            <a:spAutoFit/>
          </a:bodyPr>
          <a:lstStyle/>
          <a:p>
            <a:pPr algn="ctr"/>
            <a:r>
              <a:rPr lang="fr-FR" b="1" dirty="0"/>
              <a:t>Population</a:t>
            </a:r>
            <a:endParaRPr lang="fr-FR" b="1" dirty="0">
              <a:ea typeface="Calibri"/>
              <a:cs typeface="Times New Roman"/>
            </a:endParaRPr>
          </a:p>
        </p:txBody>
      </p:sp>
      <p:sp>
        <p:nvSpPr>
          <p:cNvPr id="11" name="ZoneTexte 10"/>
          <p:cNvSpPr txBox="1"/>
          <p:nvPr/>
        </p:nvSpPr>
        <p:spPr>
          <a:xfrm>
            <a:off x="714348" y="4345552"/>
            <a:ext cx="2357454" cy="369332"/>
          </a:xfrm>
          <a:prstGeom prst="rect">
            <a:avLst/>
          </a:prstGeom>
          <a:noFill/>
        </p:spPr>
        <p:txBody>
          <a:bodyPr wrap="square" rtlCol="0">
            <a:spAutoFit/>
          </a:bodyPr>
          <a:lstStyle/>
          <a:p>
            <a:pPr algn="ctr"/>
            <a:r>
              <a:rPr lang="fr-FR" b="1" dirty="0"/>
              <a:t>Unité Statistique</a:t>
            </a:r>
            <a:endParaRPr lang="fr-FR" b="1" dirty="0">
              <a:ea typeface="Calibri"/>
              <a:cs typeface="Times New Roman"/>
            </a:endParaRPr>
          </a:p>
        </p:txBody>
      </p:sp>
      <p:sp>
        <p:nvSpPr>
          <p:cNvPr id="12" name="ZoneTexte 11"/>
          <p:cNvSpPr txBox="1"/>
          <p:nvPr/>
        </p:nvSpPr>
        <p:spPr>
          <a:xfrm>
            <a:off x="142844" y="5059932"/>
            <a:ext cx="3357586" cy="369332"/>
          </a:xfrm>
          <a:prstGeom prst="rect">
            <a:avLst/>
          </a:prstGeom>
          <a:noFill/>
        </p:spPr>
        <p:txBody>
          <a:bodyPr wrap="square" rtlCol="0">
            <a:spAutoFit/>
          </a:bodyPr>
          <a:lstStyle/>
          <a:p>
            <a:pPr algn="ctr"/>
            <a:r>
              <a:rPr lang="fr-FR" b="1" dirty="0"/>
              <a:t>Variable ou caractère statistique</a:t>
            </a:r>
            <a:endParaRPr lang="fr-FR" b="1" dirty="0">
              <a:ea typeface="Calibri"/>
              <a:cs typeface="Times New Roman"/>
            </a:endParaRPr>
          </a:p>
        </p:txBody>
      </p:sp>
      <p:sp>
        <p:nvSpPr>
          <p:cNvPr id="13" name="ZoneTexte 12"/>
          <p:cNvSpPr txBox="1"/>
          <p:nvPr/>
        </p:nvSpPr>
        <p:spPr>
          <a:xfrm>
            <a:off x="571472" y="5845750"/>
            <a:ext cx="2357454" cy="369332"/>
          </a:xfrm>
          <a:prstGeom prst="rect">
            <a:avLst/>
          </a:prstGeom>
          <a:noFill/>
        </p:spPr>
        <p:txBody>
          <a:bodyPr wrap="square" rtlCol="0">
            <a:spAutoFit/>
          </a:bodyPr>
          <a:lstStyle/>
          <a:p>
            <a:pPr algn="ctr"/>
            <a:r>
              <a:rPr lang="fr-FR" b="1" dirty="0"/>
              <a:t>Modalités</a:t>
            </a:r>
            <a:endParaRPr lang="fr-FR" b="1" dirty="0">
              <a:ea typeface="Calibri"/>
              <a:cs typeface="Times New Roman"/>
            </a:endParaRPr>
          </a:p>
        </p:txBody>
      </p:sp>
      <p:sp>
        <p:nvSpPr>
          <p:cNvPr id="14" name="ZoneTexte 13"/>
          <p:cNvSpPr txBox="1"/>
          <p:nvPr/>
        </p:nvSpPr>
        <p:spPr>
          <a:xfrm>
            <a:off x="3857620" y="3702610"/>
            <a:ext cx="4786346" cy="369332"/>
          </a:xfrm>
          <a:prstGeom prst="rect">
            <a:avLst/>
          </a:prstGeom>
          <a:noFill/>
        </p:spPr>
        <p:txBody>
          <a:bodyPr wrap="square" rtlCol="0">
            <a:spAutoFit/>
          </a:bodyPr>
          <a:lstStyle/>
          <a:p>
            <a:pPr algn="ctr"/>
            <a:r>
              <a:rPr lang="fr-FR" b="1" dirty="0"/>
              <a:t>Les logements d’une localité</a:t>
            </a:r>
            <a:endParaRPr lang="fr-FR" b="1" dirty="0">
              <a:ea typeface="Calibri"/>
              <a:cs typeface="Times New Roman"/>
            </a:endParaRPr>
          </a:p>
        </p:txBody>
      </p:sp>
      <p:sp>
        <p:nvSpPr>
          <p:cNvPr id="15" name="ZoneTexte 14"/>
          <p:cNvSpPr txBox="1"/>
          <p:nvPr/>
        </p:nvSpPr>
        <p:spPr>
          <a:xfrm>
            <a:off x="3857620" y="4345552"/>
            <a:ext cx="4714908" cy="369332"/>
          </a:xfrm>
          <a:prstGeom prst="rect">
            <a:avLst/>
          </a:prstGeom>
          <a:noFill/>
        </p:spPr>
        <p:txBody>
          <a:bodyPr wrap="square" rtlCol="0">
            <a:spAutoFit/>
          </a:bodyPr>
          <a:lstStyle/>
          <a:p>
            <a:pPr algn="ctr"/>
            <a:r>
              <a:rPr lang="fr-FR" b="1" dirty="0"/>
              <a:t>Chaque logement</a:t>
            </a:r>
            <a:endParaRPr lang="fr-FR" b="1" dirty="0">
              <a:ea typeface="Calibri"/>
              <a:cs typeface="Times New Roman"/>
            </a:endParaRPr>
          </a:p>
        </p:txBody>
      </p:sp>
      <p:sp>
        <p:nvSpPr>
          <p:cNvPr id="16" name="ZoneTexte 15"/>
          <p:cNvSpPr txBox="1"/>
          <p:nvPr/>
        </p:nvSpPr>
        <p:spPr>
          <a:xfrm>
            <a:off x="3857620" y="5059932"/>
            <a:ext cx="4857784" cy="369332"/>
          </a:xfrm>
          <a:prstGeom prst="rect">
            <a:avLst/>
          </a:prstGeom>
          <a:noFill/>
        </p:spPr>
        <p:txBody>
          <a:bodyPr wrap="square" rtlCol="0">
            <a:spAutoFit/>
          </a:bodyPr>
          <a:lstStyle/>
          <a:p>
            <a:pPr algn="ctr"/>
            <a:r>
              <a:rPr lang="fr-FR" b="1" dirty="0"/>
              <a:t>Le niveau de confort</a:t>
            </a:r>
            <a:endParaRPr lang="fr-FR" b="1" dirty="0">
              <a:ea typeface="Calibri"/>
              <a:cs typeface="Times New Roman"/>
            </a:endParaRPr>
          </a:p>
        </p:txBody>
      </p:sp>
      <p:sp>
        <p:nvSpPr>
          <p:cNvPr id="17" name="ZoneTexte 16"/>
          <p:cNvSpPr txBox="1"/>
          <p:nvPr/>
        </p:nvSpPr>
        <p:spPr>
          <a:xfrm>
            <a:off x="3571868" y="5845750"/>
            <a:ext cx="5357850" cy="369332"/>
          </a:xfrm>
          <a:prstGeom prst="rect">
            <a:avLst/>
          </a:prstGeom>
          <a:noFill/>
        </p:spPr>
        <p:txBody>
          <a:bodyPr wrap="square" rtlCol="0">
            <a:spAutoFit/>
          </a:bodyPr>
          <a:lstStyle/>
          <a:p>
            <a:pPr lvl="0" algn="ctr"/>
            <a:r>
              <a:rPr lang="fr-FR" b="1" dirty="0"/>
              <a:t>(a) médiocre, (b) moyen, (c) bon, (d) très bon</a:t>
            </a:r>
            <a:endParaRPr lang="fr-FR" b="1" dirty="0">
              <a:ea typeface="Calibri"/>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arn(inVertical)">
                                      <p:cBhvr>
                                        <p:cTn id="18" dur="500"/>
                                        <p:tgtEl>
                                          <p:spTgt spid="5">
                                            <p:txEl>
                                              <p:pRg st="3" end="3"/>
                                            </p:txEl>
                                          </p:spTgt>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arn(inVertical)">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barn(inVertical)">
                                      <p:cBhvr>
                                        <p:cTn id="26" dur="500"/>
                                        <p:tgtEl>
                                          <p:spTgt spid="5">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arn(inVertical)">
                                      <p:cBhvr>
                                        <p:cTn id="31" dur="500"/>
                                        <p:tgtEl>
                                          <p:spTgt spid="6"/>
                                        </p:tgtEl>
                                      </p:cBhvr>
                                    </p:animEffect>
                                  </p:childTnLst>
                                </p:cTn>
                              </p:par>
                            </p:childTnLst>
                          </p:cTn>
                        </p:par>
                        <p:par>
                          <p:cTn id="32" fill="hold">
                            <p:stCondLst>
                              <p:cond delay="500"/>
                            </p:stCondLst>
                            <p:childTnLst>
                              <p:par>
                                <p:cTn id="33" presetID="16" presetClass="entr" presetSubtype="21"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arn(inVertical)">
                                      <p:cBhvr>
                                        <p:cTn id="35" dur="500"/>
                                        <p:tgtEl>
                                          <p:spTgt spid="10"/>
                                        </p:tgtEl>
                                      </p:cBhvr>
                                    </p:animEffect>
                                  </p:childTnLst>
                                </p:cTn>
                              </p:par>
                            </p:childTnLst>
                          </p:cTn>
                        </p:par>
                        <p:par>
                          <p:cTn id="36" fill="hold">
                            <p:stCondLst>
                              <p:cond delay="1000"/>
                            </p:stCondLst>
                            <p:childTnLst>
                              <p:par>
                                <p:cTn id="37" presetID="16" presetClass="entr" presetSubtype="21"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arn(inVertical)">
                                      <p:cBhvr>
                                        <p:cTn id="39" dur="500"/>
                                        <p:tgtEl>
                                          <p:spTgt spid="11"/>
                                        </p:tgtEl>
                                      </p:cBhvr>
                                    </p:animEffect>
                                  </p:childTnLst>
                                </p:cTn>
                              </p:par>
                            </p:childTnLst>
                          </p:cTn>
                        </p:par>
                        <p:par>
                          <p:cTn id="40" fill="hold">
                            <p:stCondLst>
                              <p:cond delay="1500"/>
                            </p:stCondLst>
                            <p:childTnLst>
                              <p:par>
                                <p:cTn id="41" presetID="16" presetClass="entr" presetSubtype="21"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arn(inVertical)">
                                      <p:cBhvr>
                                        <p:cTn id="43" dur="500"/>
                                        <p:tgtEl>
                                          <p:spTgt spid="12"/>
                                        </p:tgtEl>
                                      </p:cBhvr>
                                    </p:animEffect>
                                  </p:childTnLst>
                                </p:cTn>
                              </p:par>
                            </p:childTnLst>
                          </p:cTn>
                        </p:par>
                        <p:par>
                          <p:cTn id="44" fill="hold">
                            <p:stCondLst>
                              <p:cond delay="2000"/>
                            </p:stCondLst>
                            <p:childTnLst>
                              <p:par>
                                <p:cTn id="45" presetID="16" presetClass="entr" presetSubtype="21"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barn(inVertical)">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barn(inVertical)">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arn(inVertical)">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barn(inVertical)">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barn(inVertical)">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0" grpId="0"/>
      <p:bldP spid="11" grpId="0"/>
      <p:bldP spid="12" grpId="0"/>
      <p:bldP spid="13" grpId="0"/>
      <p:bldP spid="14" grpId="0"/>
      <p:bldP spid="15" grpId="0"/>
      <p:bldP spid="16"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fontScale="90000"/>
          </a:bodyPr>
          <a:lstStyle/>
          <a:p>
            <a:pPr algn="l"/>
            <a:r>
              <a:rPr lang="fr-FR" sz="3600" dirty="0">
                <a:solidFill>
                  <a:schemeClr val="bg1"/>
                </a:solidFill>
              </a:rPr>
              <a:t>Application </a:t>
            </a:r>
            <a:r>
              <a:rPr lang="fr-FR" dirty="0">
                <a:solidFill>
                  <a:schemeClr val="bg1"/>
                </a:solidFill>
              </a:rPr>
              <a:t> </a:t>
            </a:r>
          </a:p>
        </p:txBody>
      </p:sp>
      <p:sp>
        <p:nvSpPr>
          <p:cNvPr id="4" name="Rectangle 3"/>
          <p:cNvSpPr/>
          <p:nvPr/>
        </p:nvSpPr>
        <p:spPr>
          <a:xfrm>
            <a:off x="107504" y="908720"/>
            <a:ext cx="8928992" cy="2400657"/>
          </a:xfrm>
          <a:prstGeom prst="rect">
            <a:avLst/>
          </a:prstGeom>
        </p:spPr>
        <p:txBody>
          <a:bodyPr wrap="square">
            <a:spAutoFit/>
          </a:bodyPr>
          <a:lstStyle/>
          <a:p>
            <a:r>
              <a:rPr lang="fr-FR" sz="2000" b="1" u="sng" dirty="0"/>
              <a:t>Exercice 3</a:t>
            </a:r>
          </a:p>
          <a:p>
            <a:pPr>
              <a:spcBef>
                <a:spcPts val="1200"/>
              </a:spcBef>
            </a:pPr>
            <a:r>
              <a:rPr lang="fr-FR" sz="2000" dirty="0"/>
              <a:t>En 2005, l’INSEE étudie le nombre de personnes des ménages dans le canton de Bretagne. Le résultat est le suivant : {1, 2, 3, 4, 5, 6, 7, 8}. </a:t>
            </a:r>
          </a:p>
          <a:p>
            <a:pPr>
              <a:spcBef>
                <a:spcPts val="1200"/>
              </a:spcBef>
            </a:pPr>
            <a:r>
              <a:rPr lang="fr-FR" sz="2000" b="1" dirty="0">
                <a:solidFill>
                  <a:srgbClr val="0070C0"/>
                </a:solidFill>
              </a:rPr>
              <a:t>Question</a:t>
            </a:r>
            <a:r>
              <a:rPr lang="fr-FR" sz="2000" dirty="0"/>
              <a:t> </a:t>
            </a:r>
          </a:p>
          <a:p>
            <a:r>
              <a:rPr lang="fr-FR" sz="2000" dirty="0"/>
              <a:t>Traduisez ces informations dans le vocabulaire de la statistique descriptive.</a:t>
            </a:r>
          </a:p>
          <a:p>
            <a:pPr>
              <a:spcBef>
                <a:spcPts val="1200"/>
              </a:spcBef>
            </a:pPr>
            <a:r>
              <a:rPr lang="fr-FR" sz="2000" b="1" dirty="0">
                <a:solidFill>
                  <a:srgbClr val="0070C0"/>
                </a:solidFill>
              </a:rPr>
              <a:t>Réponse</a:t>
            </a:r>
            <a:r>
              <a:rPr lang="fr-FR" sz="2000" dirty="0"/>
              <a:t> </a:t>
            </a:r>
          </a:p>
        </p:txBody>
      </p:sp>
      <p:graphicFrame>
        <p:nvGraphicFramePr>
          <p:cNvPr id="5" name="Tableau 4"/>
          <p:cNvGraphicFramePr>
            <a:graphicFrameLocks noGrp="1"/>
          </p:cNvGraphicFramePr>
          <p:nvPr>
            <p:extLst>
              <p:ext uri="{D42A27DB-BD31-4B8C-83A1-F6EECF244321}">
                <p14:modId xmlns:p14="http://schemas.microsoft.com/office/powerpoint/2010/main" val="2991428524"/>
              </p:ext>
            </p:extLst>
          </p:nvPr>
        </p:nvGraphicFramePr>
        <p:xfrm>
          <a:off x="179512" y="3356992"/>
          <a:ext cx="8784976" cy="2874620"/>
        </p:xfrm>
        <a:graphic>
          <a:graphicData uri="http://schemas.openxmlformats.org/drawingml/2006/table">
            <a:tbl>
              <a:tblPr>
                <a:tableStyleId>{D7AC3CCA-C797-4891-BE02-D94E43425B78}</a:tableStyleId>
              </a:tblPr>
              <a:tblGrid>
                <a:gridCol w="4392488">
                  <a:extLst>
                    <a:ext uri="{9D8B030D-6E8A-4147-A177-3AD203B41FA5}">
                      <a16:colId xmlns:a16="http://schemas.microsoft.com/office/drawing/2014/main" val="20000"/>
                    </a:ext>
                  </a:extLst>
                </a:gridCol>
                <a:gridCol w="4392488">
                  <a:extLst>
                    <a:ext uri="{9D8B030D-6E8A-4147-A177-3AD203B41FA5}">
                      <a16:colId xmlns:a16="http://schemas.microsoft.com/office/drawing/2014/main" val="20001"/>
                    </a:ext>
                  </a:extLst>
                </a:gridCol>
              </a:tblGrid>
              <a:tr h="714380">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0"/>
                  </a:ext>
                </a:extLst>
              </a:tr>
              <a:tr h="720080">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1"/>
                  </a:ext>
                </a:extLst>
              </a:tr>
              <a:tr h="720080">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2"/>
                  </a:ext>
                </a:extLst>
              </a:tr>
              <a:tr h="720080">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8580" marR="68580" marT="0" marB="0" anchor="ctr"/>
                </a:tc>
                <a:extLst>
                  <a:ext uri="{0D108BD9-81ED-4DB2-BD59-A6C34878D82A}">
                    <a16:rowId xmlns:a16="http://schemas.microsoft.com/office/drawing/2014/main" val="10003"/>
                  </a:ext>
                </a:extLst>
              </a:tr>
            </a:tbl>
          </a:graphicData>
        </a:graphic>
      </p:graphicFrame>
      <p:sp>
        <p:nvSpPr>
          <p:cNvPr id="6" name="Espace réservé de la date 5"/>
          <p:cNvSpPr>
            <a:spLocks noGrp="1"/>
          </p:cNvSpPr>
          <p:nvPr>
            <p:ph type="dt" sz="half" idx="10"/>
          </p:nvPr>
        </p:nvSpPr>
        <p:spPr/>
        <p:txBody>
          <a:bodyPr/>
          <a:lstStyle/>
          <a:p>
            <a:fld id="{B451FD2D-30E0-48F7-838C-6E446EC2730C}" type="datetime1">
              <a:rPr lang="fr-FR" smtClean="0"/>
              <a:t>23/02/2026</a:t>
            </a:fld>
            <a:endParaRPr lang="fr-FR"/>
          </a:p>
        </p:txBody>
      </p:sp>
      <p:sp>
        <p:nvSpPr>
          <p:cNvPr id="7" name="Espace réservé du numéro de diapositive 6"/>
          <p:cNvSpPr>
            <a:spLocks noGrp="1"/>
          </p:cNvSpPr>
          <p:nvPr>
            <p:ph type="sldNum" sz="quarter" idx="12"/>
          </p:nvPr>
        </p:nvSpPr>
        <p:spPr/>
        <p:txBody>
          <a:bodyPr/>
          <a:lstStyle/>
          <a:p>
            <a:fld id="{ACD63441-67CA-4275-B112-E958F8793EB2}" type="slidenum">
              <a:rPr lang="fr-FR" smtClean="0"/>
              <a:pPr/>
              <a:t>10</a:t>
            </a:fld>
            <a:endParaRPr lang="fr-FR"/>
          </a:p>
        </p:txBody>
      </p:sp>
      <p:sp>
        <p:nvSpPr>
          <p:cNvPr id="8" name="Espace réservé du pied de page 7"/>
          <p:cNvSpPr>
            <a:spLocks noGrp="1"/>
          </p:cNvSpPr>
          <p:nvPr>
            <p:ph type="ftr" sz="quarter" idx="11"/>
          </p:nvPr>
        </p:nvSpPr>
        <p:spPr/>
        <p:txBody>
          <a:bodyPr/>
          <a:lstStyle/>
          <a:p>
            <a:r>
              <a:rPr lang="fr-FR"/>
              <a:t>Introduction à la Statistique descriptive</a:t>
            </a:r>
          </a:p>
        </p:txBody>
      </p:sp>
      <p:sp>
        <p:nvSpPr>
          <p:cNvPr id="9" name="ZoneTexte 8"/>
          <p:cNvSpPr txBox="1"/>
          <p:nvPr/>
        </p:nvSpPr>
        <p:spPr>
          <a:xfrm>
            <a:off x="1214414" y="3559734"/>
            <a:ext cx="2500330" cy="369332"/>
          </a:xfrm>
          <a:prstGeom prst="rect">
            <a:avLst/>
          </a:prstGeom>
          <a:noFill/>
        </p:spPr>
        <p:txBody>
          <a:bodyPr wrap="square" rtlCol="0">
            <a:spAutoFit/>
          </a:bodyPr>
          <a:lstStyle/>
          <a:p>
            <a:pPr algn="ctr"/>
            <a:r>
              <a:rPr lang="fr-FR" b="1" dirty="0"/>
              <a:t>Population</a:t>
            </a:r>
            <a:endParaRPr lang="fr-FR" b="1" dirty="0">
              <a:ea typeface="Calibri"/>
              <a:cs typeface="Times New Roman"/>
            </a:endParaRPr>
          </a:p>
        </p:txBody>
      </p:sp>
      <p:sp>
        <p:nvSpPr>
          <p:cNvPr id="10" name="ZoneTexte 9"/>
          <p:cNvSpPr txBox="1"/>
          <p:nvPr/>
        </p:nvSpPr>
        <p:spPr>
          <a:xfrm>
            <a:off x="928662" y="4274114"/>
            <a:ext cx="3286148" cy="369332"/>
          </a:xfrm>
          <a:prstGeom prst="rect">
            <a:avLst/>
          </a:prstGeom>
          <a:noFill/>
        </p:spPr>
        <p:txBody>
          <a:bodyPr wrap="square" rtlCol="0">
            <a:spAutoFit/>
          </a:bodyPr>
          <a:lstStyle/>
          <a:p>
            <a:pPr algn="ctr"/>
            <a:r>
              <a:rPr lang="fr-FR" b="1" dirty="0"/>
              <a:t>Unité Statistique</a:t>
            </a:r>
            <a:endParaRPr lang="fr-FR" b="1" dirty="0">
              <a:ea typeface="Calibri"/>
              <a:cs typeface="Times New Roman"/>
            </a:endParaRPr>
          </a:p>
        </p:txBody>
      </p:sp>
      <p:sp>
        <p:nvSpPr>
          <p:cNvPr id="11" name="ZoneTexte 10"/>
          <p:cNvSpPr txBox="1"/>
          <p:nvPr/>
        </p:nvSpPr>
        <p:spPr>
          <a:xfrm>
            <a:off x="714348" y="4988494"/>
            <a:ext cx="3571900" cy="369332"/>
          </a:xfrm>
          <a:prstGeom prst="rect">
            <a:avLst/>
          </a:prstGeom>
          <a:noFill/>
        </p:spPr>
        <p:txBody>
          <a:bodyPr wrap="square" rtlCol="0">
            <a:spAutoFit/>
          </a:bodyPr>
          <a:lstStyle/>
          <a:p>
            <a:pPr algn="ctr"/>
            <a:r>
              <a:rPr lang="fr-FR" b="1" dirty="0"/>
              <a:t>Variable ou caractère statistique</a:t>
            </a:r>
            <a:endParaRPr lang="fr-FR" b="1" dirty="0">
              <a:ea typeface="Calibri"/>
              <a:cs typeface="Times New Roman"/>
            </a:endParaRPr>
          </a:p>
        </p:txBody>
      </p:sp>
      <p:sp>
        <p:nvSpPr>
          <p:cNvPr id="12" name="ZoneTexte 11"/>
          <p:cNvSpPr txBox="1"/>
          <p:nvPr/>
        </p:nvSpPr>
        <p:spPr>
          <a:xfrm>
            <a:off x="785786" y="5702874"/>
            <a:ext cx="3214710" cy="369332"/>
          </a:xfrm>
          <a:prstGeom prst="rect">
            <a:avLst/>
          </a:prstGeom>
          <a:noFill/>
        </p:spPr>
        <p:txBody>
          <a:bodyPr wrap="square" rtlCol="0">
            <a:spAutoFit/>
          </a:bodyPr>
          <a:lstStyle/>
          <a:p>
            <a:pPr algn="ctr"/>
            <a:r>
              <a:rPr lang="fr-FR" b="1" dirty="0"/>
              <a:t>Modalités</a:t>
            </a:r>
            <a:endParaRPr lang="fr-FR" b="1" dirty="0">
              <a:ea typeface="Calibri"/>
              <a:cs typeface="Times New Roman"/>
            </a:endParaRPr>
          </a:p>
        </p:txBody>
      </p:sp>
      <p:sp>
        <p:nvSpPr>
          <p:cNvPr id="3" name="ZoneTexte 2"/>
          <p:cNvSpPr txBox="1"/>
          <p:nvPr/>
        </p:nvSpPr>
        <p:spPr>
          <a:xfrm>
            <a:off x="5004048" y="3559734"/>
            <a:ext cx="3672408" cy="369332"/>
          </a:xfrm>
          <a:prstGeom prst="rect">
            <a:avLst/>
          </a:prstGeom>
          <a:noFill/>
        </p:spPr>
        <p:txBody>
          <a:bodyPr wrap="square" rtlCol="0">
            <a:spAutoFit/>
          </a:bodyPr>
          <a:lstStyle/>
          <a:p>
            <a:pPr algn="ctr"/>
            <a:r>
              <a:rPr lang="fr-FR" b="1" dirty="0"/>
              <a:t>Les ménages</a:t>
            </a:r>
            <a:endParaRPr lang="fr-FR" b="1" dirty="0">
              <a:ea typeface="Calibri"/>
              <a:cs typeface="Times New Roman"/>
            </a:endParaRPr>
          </a:p>
        </p:txBody>
      </p:sp>
      <p:sp>
        <p:nvSpPr>
          <p:cNvPr id="13" name="ZoneTexte 12"/>
          <p:cNvSpPr txBox="1"/>
          <p:nvPr/>
        </p:nvSpPr>
        <p:spPr>
          <a:xfrm>
            <a:off x="5148064" y="4221088"/>
            <a:ext cx="3384376" cy="369332"/>
          </a:xfrm>
          <a:prstGeom prst="rect">
            <a:avLst/>
          </a:prstGeom>
          <a:noFill/>
        </p:spPr>
        <p:txBody>
          <a:bodyPr wrap="square" rtlCol="0">
            <a:spAutoFit/>
          </a:bodyPr>
          <a:lstStyle/>
          <a:p>
            <a:pPr algn="ctr"/>
            <a:r>
              <a:rPr lang="fr-FR" b="1" dirty="0"/>
              <a:t>Chaque ménage </a:t>
            </a:r>
            <a:endParaRPr lang="fr-FR" b="1" dirty="0">
              <a:ea typeface="Calibri"/>
              <a:cs typeface="Times New Roman"/>
            </a:endParaRPr>
          </a:p>
        </p:txBody>
      </p:sp>
      <p:sp>
        <p:nvSpPr>
          <p:cNvPr id="14" name="ZoneTexte 13"/>
          <p:cNvSpPr txBox="1"/>
          <p:nvPr/>
        </p:nvSpPr>
        <p:spPr>
          <a:xfrm>
            <a:off x="5004048" y="4941168"/>
            <a:ext cx="3528392" cy="369332"/>
          </a:xfrm>
          <a:prstGeom prst="rect">
            <a:avLst/>
          </a:prstGeom>
          <a:noFill/>
        </p:spPr>
        <p:txBody>
          <a:bodyPr wrap="square" rtlCol="0">
            <a:spAutoFit/>
          </a:bodyPr>
          <a:lstStyle/>
          <a:p>
            <a:pPr algn="ctr"/>
            <a:r>
              <a:rPr lang="fr-FR" b="1" dirty="0"/>
              <a:t>Nombre de personnes</a:t>
            </a:r>
            <a:endParaRPr lang="fr-FR" b="1" dirty="0">
              <a:ea typeface="Calibri"/>
              <a:cs typeface="Times New Roman"/>
            </a:endParaRPr>
          </a:p>
        </p:txBody>
      </p:sp>
      <p:sp>
        <p:nvSpPr>
          <p:cNvPr id="15" name="ZoneTexte 14"/>
          <p:cNvSpPr txBox="1"/>
          <p:nvPr/>
        </p:nvSpPr>
        <p:spPr>
          <a:xfrm>
            <a:off x="5076056" y="5651956"/>
            <a:ext cx="3384376" cy="369332"/>
          </a:xfrm>
          <a:prstGeom prst="rect">
            <a:avLst/>
          </a:prstGeom>
          <a:noFill/>
        </p:spPr>
        <p:txBody>
          <a:bodyPr wrap="square" rtlCol="0">
            <a:spAutoFit/>
          </a:bodyPr>
          <a:lstStyle/>
          <a:p>
            <a:pPr algn="ctr"/>
            <a:r>
              <a:rPr lang="fr-FR" b="1" dirty="0"/>
              <a:t>{1, 2, 3, 4, 5, 6, 7, 8}</a:t>
            </a:r>
            <a:endParaRPr lang="fr-FR" b="1" dirty="0">
              <a:ea typeface="Calibri"/>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childTnLst>
                          </p:cTn>
                        </p:par>
                        <p:par>
                          <p:cTn id="24" fill="hold">
                            <p:stCondLst>
                              <p:cond delay="500"/>
                            </p:stCondLst>
                            <p:childTnLst>
                              <p:par>
                                <p:cTn id="25" presetID="16" presetClass="entr" presetSubtype="2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par>
                          <p:cTn id="28" fill="hold">
                            <p:stCondLst>
                              <p:cond delay="1000"/>
                            </p:stCondLst>
                            <p:childTnLst>
                              <p:par>
                                <p:cTn id="29" presetID="16" presetClass="entr" presetSubtype="21"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arn(inVertical)">
                                      <p:cBhvr>
                                        <p:cTn id="31" dur="500"/>
                                        <p:tgtEl>
                                          <p:spTgt spid="9"/>
                                        </p:tgtEl>
                                      </p:cBhvr>
                                    </p:animEffect>
                                  </p:childTnLst>
                                </p:cTn>
                              </p:par>
                            </p:childTnLst>
                          </p:cTn>
                        </p:par>
                        <p:par>
                          <p:cTn id="32" fill="hold">
                            <p:stCondLst>
                              <p:cond delay="1500"/>
                            </p:stCondLst>
                            <p:childTnLst>
                              <p:par>
                                <p:cTn id="33" presetID="16" presetClass="entr" presetSubtype="21"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arn(inVertical)">
                                      <p:cBhvr>
                                        <p:cTn id="35" dur="500"/>
                                        <p:tgtEl>
                                          <p:spTgt spid="10"/>
                                        </p:tgtEl>
                                      </p:cBhvr>
                                    </p:animEffect>
                                  </p:childTnLst>
                                </p:cTn>
                              </p:par>
                            </p:childTnLst>
                          </p:cTn>
                        </p:par>
                        <p:par>
                          <p:cTn id="36" fill="hold">
                            <p:stCondLst>
                              <p:cond delay="2000"/>
                            </p:stCondLst>
                            <p:childTnLst>
                              <p:par>
                                <p:cTn id="37" presetID="16" presetClass="entr" presetSubtype="21"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arn(inVertical)">
                                      <p:cBhvr>
                                        <p:cTn id="39" dur="500"/>
                                        <p:tgtEl>
                                          <p:spTgt spid="11"/>
                                        </p:tgtEl>
                                      </p:cBhvr>
                                    </p:animEffect>
                                  </p:childTnLst>
                                </p:cTn>
                              </p:par>
                            </p:childTnLst>
                          </p:cTn>
                        </p:par>
                        <p:par>
                          <p:cTn id="40" fill="hold">
                            <p:stCondLst>
                              <p:cond delay="2500"/>
                            </p:stCondLst>
                            <p:childTnLst>
                              <p:par>
                                <p:cTn id="41" presetID="16" presetClass="entr" presetSubtype="21"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barn(inVertical)">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arn(inVertical)">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barn(inVertical)">
                                      <p:cBhvr>
                                        <p:cTn id="53" dur="50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21"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barn(inVertical)">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barn(inVertical)">
                                      <p:cBhvr>
                                        <p:cTn id="6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9" grpId="0"/>
      <p:bldP spid="10" grpId="0"/>
      <p:bldP spid="11" grpId="0"/>
      <p:bldP spid="12" grpId="0"/>
      <p:bldP spid="3" grpId="0"/>
      <p:bldP spid="13" grpId="0"/>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fontScale="90000"/>
          </a:bodyPr>
          <a:lstStyle/>
          <a:p>
            <a:pPr algn="l"/>
            <a:r>
              <a:rPr lang="fr-FR" sz="3600" dirty="0">
                <a:solidFill>
                  <a:schemeClr val="bg1"/>
                </a:solidFill>
              </a:rPr>
              <a:t>Application </a:t>
            </a:r>
            <a:r>
              <a:rPr lang="fr-FR" dirty="0">
                <a:solidFill>
                  <a:schemeClr val="bg1"/>
                </a:solidFill>
              </a:rPr>
              <a:t> </a:t>
            </a:r>
          </a:p>
        </p:txBody>
      </p:sp>
      <p:sp>
        <p:nvSpPr>
          <p:cNvPr id="5" name="Rectangle 4"/>
          <p:cNvSpPr/>
          <p:nvPr/>
        </p:nvSpPr>
        <p:spPr>
          <a:xfrm>
            <a:off x="107504" y="908720"/>
            <a:ext cx="8928992" cy="2739211"/>
          </a:xfrm>
          <a:prstGeom prst="rect">
            <a:avLst/>
          </a:prstGeom>
        </p:spPr>
        <p:txBody>
          <a:bodyPr wrap="square">
            <a:spAutoFit/>
          </a:bodyPr>
          <a:lstStyle/>
          <a:p>
            <a:pPr>
              <a:lnSpc>
                <a:spcPct val="115000"/>
              </a:lnSpc>
              <a:spcAft>
                <a:spcPts val="600"/>
              </a:spcAft>
            </a:pPr>
            <a:r>
              <a:rPr lang="fr-FR" sz="2000" b="1" u="sng" dirty="0">
                <a:ea typeface="Calibri"/>
                <a:cs typeface="Times New Roman"/>
              </a:rPr>
              <a:t>Exercice 4</a:t>
            </a:r>
          </a:p>
          <a:p>
            <a:pPr>
              <a:spcAft>
                <a:spcPts val="600"/>
              </a:spcAft>
            </a:pPr>
            <a:r>
              <a:rPr lang="fr-FR" sz="2000" dirty="0">
                <a:ea typeface="Calibri"/>
                <a:cs typeface="Times New Roman"/>
              </a:rPr>
              <a:t>Le responsable des ressources humaines d’une grande entreprise de 2000 salariés a relevé l’ancienneté, exprimée en année, du personnel dans l’entreprise.  Elle s’étale sur un intervalle de 0 à 35 ans. </a:t>
            </a:r>
          </a:p>
          <a:p>
            <a:pPr>
              <a:lnSpc>
                <a:spcPct val="115000"/>
              </a:lnSpc>
            </a:pPr>
            <a:r>
              <a:rPr lang="fr-FR" sz="2000" b="1" dirty="0">
                <a:solidFill>
                  <a:srgbClr val="0070C0"/>
                </a:solidFill>
                <a:ea typeface="Calibri"/>
                <a:cs typeface="Times New Roman"/>
              </a:rPr>
              <a:t>Question</a:t>
            </a:r>
            <a:r>
              <a:rPr lang="fr-FR" sz="2000" dirty="0">
                <a:ea typeface="Calibri"/>
                <a:cs typeface="Times New Roman"/>
              </a:rPr>
              <a:t> </a:t>
            </a:r>
          </a:p>
          <a:p>
            <a:pPr>
              <a:lnSpc>
                <a:spcPct val="115000"/>
              </a:lnSpc>
            </a:pPr>
            <a:r>
              <a:rPr lang="fr-FR" sz="2000" dirty="0">
                <a:ea typeface="Calibri"/>
                <a:cs typeface="Times New Roman"/>
              </a:rPr>
              <a:t>Traduisez ces informations dans le vocabulaire de la statistique descriptive.</a:t>
            </a:r>
          </a:p>
          <a:p>
            <a:pPr>
              <a:lnSpc>
                <a:spcPct val="115000"/>
              </a:lnSpc>
              <a:spcBef>
                <a:spcPts val="1200"/>
              </a:spcBef>
            </a:pPr>
            <a:r>
              <a:rPr lang="fr-FR" sz="2000" b="1" dirty="0">
                <a:solidFill>
                  <a:srgbClr val="0070C0"/>
                </a:solidFill>
                <a:ea typeface="Calibri"/>
                <a:cs typeface="Times New Roman"/>
              </a:rPr>
              <a:t>Réponse</a:t>
            </a:r>
            <a:r>
              <a:rPr lang="fr-FR" sz="2000" dirty="0">
                <a:ea typeface="Calibri"/>
                <a:cs typeface="Times New Roman"/>
              </a:rPr>
              <a:t> </a:t>
            </a:r>
          </a:p>
        </p:txBody>
      </p:sp>
      <p:graphicFrame>
        <p:nvGraphicFramePr>
          <p:cNvPr id="6" name="Tableau 5"/>
          <p:cNvGraphicFramePr>
            <a:graphicFrameLocks noGrp="1"/>
          </p:cNvGraphicFramePr>
          <p:nvPr>
            <p:extLst>
              <p:ext uri="{D42A27DB-BD31-4B8C-83A1-F6EECF244321}">
                <p14:modId xmlns:p14="http://schemas.microsoft.com/office/powerpoint/2010/main" val="1210053655"/>
              </p:ext>
            </p:extLst>
          </p:nvPr>
        </p:nvGraphicFramePr>
        <p:xfrm>
          <a:off x="179512" y="3717032"/>
          <a:ext cx="8784976" cy="2491107"/>
        </p:xfrm>
        <a:graphic>
          <a:graphicData uri="http://schemas.openxmlformats.org/drawingml/2006/table">
            <a:tbl>
              <a:tblPr>
                <a:tableStyleId>{D7AC3CCA-C797-4891-BE02-D94E43425B78}</a:tableStyleId>
              </a:tblPr>
              <a:tblGrid>
                <a:gridCol w="3951031">
                  <a:extLst>
                    <a:ext uri="{9D8B030D-6E8A-4147-A177-3AD203B41FA5}">
                      <a16:colId xmlns:a16="http://schemas.microsoft.com/office/drawing/2014/main" val="20000"/>
                    </a:ext>
                  </a:extLst>
                </a:gridCol>
                <a:gridCol w="4833945">
                  <a:extLst>
                    <a:ext uri="{9D8B030D-6E8A-4147-A177-3AD203B41FA5}">
                      <a16:colId xmlns:a16="http://schemas.microsoft.com/office/drawing/2014/main" val="20001"/>
                    </a:ext>
                  </a:extLst>
                </a:gridCol>
              </a:tblGrid>
              <a:tr h="467595">
                <a:tc>
                  <a:txBody>
                    <a:bodyPr/>
                    <a:lstStyle/>
                    <a:p>
                      <a:pPr algn="ctr">
                        <a:lnSpc>
                          <a:spcPct val="115000"/>
                        </a:lnSpc>
                        <a:spcAft>
                          <a:spcPts val="0"/>
                        </a:spcAft>
                      </a:pPr>
                      <a:endParaRPr lang="fr-FR" sz="1800" b="1" dirty="0">
                        <a:latin typeface="Calibri"/>
                        <a:ea typeface="Calibri"/>
                        <a:cs typeface="Times New Roman"/>
                      </a:endParaRPr>
                    </a:p>
                  </a:txBody>
                  <a:tcPr marL="65713" marR="65713"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5713" marR="65713" marT="0" marB="0" anchor="ctr"/>
                </a:tc>
                <a:extLst>
                  <a:ext uri="{0D108BD9-81ED-4DB2-BD59-A6C34878D82A}">
                    <a16:rowId xmlns:a16="http://schemas.microsoft.com/office/drawing/2014/main" val="10000"/>
                  </a:ext>
                </a:extLst>
              </a:tr>
              <a:tr h="607965">
                <a:tc>
                  <a:txBody>
                    <a:bodyPr/>
                    <a:lstStyle/>
                    <a:p>
                      <a:pPr algn="ctr">
                        <a:lnSpc>
                          <a:spcPct val="115000"/>
                        </a:lnSpc>
                        <a:spcAft>
                          <a:spcPts val="0"/>
                        </a:spcAft>
                      </a:pPr>
                      <a:endParaRPr lang="fr-FR" sz="1800" b="1" dirty="0">
                        <a:latin typeface="Calibri"/>
                        <a:ea typeface="Calibri"/>
                        <a:cs typeface="Times New Roman"/>
                      </a:endParaRPr>
                    </a:p>
                  </a:txBody>
                  <a:tcPr marL="65713" marR="65713"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5713" marR="65713" marT="0" marB="0" anchor="ctr"/>
                </a:tc>
                <a:extLst>
                  <a:ext uri="{0D108BD9-81ED-4DB2-BD59-A6C34878D82A}">
                    <a16:rowId xmlns:a16="http://schemas.microsoft.com/office/drawing/2014/main" val="10001"/>
                  </a:ext>
                </a:extLst>
              </a:tr>
              <a:tr h="792088">
                <a:tc>
                  <a:txBody>
                    <a:bodyPr/>
                    <a:lstStyle/>
                    <a:p>
                      <a:pPr algn="ctr">
                        <a:lnSpc>
                          <a:spcPct val="115000"/>
                        </a:lnSpc>
                        <a:spcAft>
                          <a:spcPts val="0"/>
                        </a:spcAft>
                      </a:pPr>
                      <a:endParaRPr lang="fr-FR" sz="1800" b="1" dirty="0">
                        <a:latin typeface="Calibri"/>
                        <a:ea typeface="Calibri"/>
                        <a:cs typeface="Times New Roman"/>
                      </a:endParaRPr>
                    </a:p>
                  </a:txBody>
                  <a:tcPr marL="65713" marR="65713" marT="0" marB="0" anchor="ctr"/>
                </a:tc>
                <a:tc>
                  <a:txBody>
                    <a:bodyPr/>
                    <a:lstStyle/>
                    <a:p>
                      <a:pPr algn="ctr">
                        <a:lnSpc>
                          <a:spcPct val="115000"/>
                        </a:lnSpc>
                        <a:spcAft>
                          <a:spcPts val="0"/>
                        </a:spcAft>
                      </a:pPr>
                      <a:endParaRPr lang="fr-FR" sz="1800" b="1" dirty="0"/>
                    </a:p>
                    <a:p>
                      <a:pPr algn="ctr">
                        <a:lnSpc>
                          <a:spcPct val="115000"/>
                        </a:lnSpc>
                        <a:spcAft>
                          <a:spcPts val="0"/>
                        </a:spcAft>
                      </a:pPr>
                      <a:endParaRPr lang="fr-FR" sz="1800" b="1" dirty="0">
                        <a:latin typeface="Calibri"/>
                        <a:ea typeface="Calibri"/>
                        <a:cs typeface="Times New Roman"/>
                      </a:endParaRPr>
                    </a:p>
                  </a:txBody>
                  <a:tcPr marL="65713" marR="65713" marT="0" marB="0" anchor="ctr"/>
                </a:tc>
                <a:extLst>
                  <a:ext uri="{0D108BD9-81ED-4DB2-BD59-A6C34878D82A}">
                    <a16:rowId xmlns:a16="http://schemas.microsoft.com/office/drawing/2014/main" val="10002"/>
                  </a:ext>
                </a:extLst>
              </a:tr>
              <a:tr h="623459">
                <a:tc>
                  <a:txBody>
                    <a:bodyPr/>
                    <a:lstStyle/>
                    <a:p>
                      <a:pPr algn="ctr">
                        <a:lnSpc>
                          <a:spcPct val="115000"/>
                        </a:lnSpc>
                        <a:spcAft>
                          <a:spcPts val="0"/>
                        </a:spcAft>
                      </a:pPr>
                      <a:endParaRPr lang="fr-FR" sz="1800" b="1" dirty="0">
                        <a:latin typeface="Calibri"/>
                        <a:ea typeface="Calibri"/>
                        <a:cs typeface="Times New Roman"/>
                      </a:endParaRPr>
                    </a:p>
                  </a:txBody>
                  <a:tcPr marL="65713" marR="65713" marT="0" marB="0" anchor="ctr"/>
                </a:tc>
                <a:tc>
                  <a:txBody>
                    <a:bodyPr/>
                    <a:lstStyle/>
                    <a:p>
                      <a:pPr algn="ctr">
                        <a:lnSpc>
                          <a:spcPct val="115000"/>
                        </a:lnSpc>
                        <a:spcAft>
                          <a:spcPts val="0"/>
                        </a:spcAft>
                      </a:pPr>
                      <a:endParaRPr lang="fr-FR" sz="1800" b="1" dirty="0">
                        <a:latin typeface="Calibri"/>
                        <a:ea typeface="Calibri"/>
                        <a:cs typeface="Times New Roman"/>
                      </a:endParaRPr>
                    </a:p>
                  </a:txBody>
                  <a:tcPr marL="65713" marR="65713" marT="0" marB="0" anchor="ctr"/>
                </a:tc>
                <a:extLst>
                  <a:ext uri="{0D108BD9-81ED-4DB2-BD59-A6C34878D82A}">
                    <a16:rowId xmlns:a16="http://schemas.microsoft.com/office/drawing/2014/main" val="10003"/>
                  </a:ext>
                </a:extLst>
              </a:tr>
            </a:tbl>
          </a:graphicData>
        </a:graphic>
      </p:graphicFrame>
      <p:sp>
        <p:nvSpPr>
          <p:cNvPr id="7" name="Espace réservé de la date 6"/>
          <p:cNvSpPr>
            <a:spLocks noGrp="1"/>
          </p:cNvSpPr>
          <p:nvPr>
            <p:ph type="dt" sz="half" idx="10"/>
          </p:nvPr>
        </p:nvSpPr>
        <p:spPr/>
        <p:txBody>
          <a:bodyPr/>
          <a:lstStyle/>
          <a:p>
            <a:fld id="{B41C8A68-3576-4401-AA74-BCB34DE1BE9C}" type="datetime1">
              <a:rPr lang="fr-FR" smtClean="0"/>
              <a:t>23/02/2026</a:t>
            </a:fld>
            <a:endParaRPr lang="fr-FR"/>
          </a:p>
        </p:txBody>
      </p:sp>
      <p:sp>
        <p:nvSpPr>
          <p:cNvPr id="8" name="Espace réservé du numéro de diapositive 7"/>
          <p:cNvSpPr>
            <a:spLocks noGrp="1"/>
          </p:cNvSpPr>
          <p:nvPr>
            <p:ph type="sldNum" sz="quarter" idx="12"/>
          </p:nvPr>
        </p:nvSpPr>
        <p:spPr/>
        <p:txBody>
          <a:bodyPr/>
          <a:lstStyle/>
          <a:p>
            <a:fld id="{ACD63441-67CA-4275-B112-E958F8793EB2}" type="slidenum">
              <a:rPr lang="fr-FR" smtClean="0"/>
              <a:pPr/>
              <a:t>11</a:t>
            </a:fld>
            <a:endParaRPr lang="fr-FR"/>
          </a:p>
        </p:txBody>
      </p:sp>
      <p:sp>
        <p:nvSpPr>
          <p:cNvPr id="9" name="Espace réservé du pied de page 8"/>
          <p:cNvSpPr>
            <a:spLocks noGrp="1"/>
          </p:cNvSpPr>
          <p:nvPr>
            <p:ph type="ftr" sz="quarter" idx="11"/>
          </p:nvPr>
        </p:nvSpPr>
        <p:spPr/>
        <p:txBody>
          <a:bodyPr/>
          <a:lstStyle/>
          <a:p>
            <a:r>
              <a:rPr lang="fr-FR"/>
              <a:t>Introduction à la Statistique descriptive</a:t>
            </a:r>
          </a:p>
        </p:txBody>
      </p:sp>
      <p:sp>
        <p:nvSpPr>
          <p:cNvPr id="3" name="ZoneTexte 2"/>
          <p:cNvSpPr txBox="1"/>
          <p:nvPr/>
        </p:nvSpPr>
        <p:spPr>
          <a:xfrm>
            <a:off x="827584" y="3779748"/>
            <a:ext cx="2592288" cy="369332"/>
          </a:xfrm>
          <a:prstGeom prst="rect">
            <a:avLst/>
          </a:prstGeom>
          <a:noFill/>
        </p:spPr>
        <p:txBody>
          <a:bodyPr wrap="square" rtlCol="0">
            <a:spAutoFit/>
          </a:bodyPr>
          <a:lstStyle/>
          <a:p>
            <a:pPr algn="ctr"/>
            <a:r>
              <a:rPr lang="fr-FR" b="1" dirty="0"/>
              <a:t>Population</a:t>
            </a:r>
            <a:endParaRPr lang="fr-FR" b="1" dirty="0">
              <a:ea typeface="Calibri"/>
              <a:cs typeface="Times New Roman"/>
            </a:endParaRPr>
          </a:p>
        </p:txBody>
      </p:sp>
      <p:sp>
        <p:nvSpPr>
          <p:cNvPr id="4" name="ZoneTexte 3"/>
          <p:cNvSpPr txBox="1"/>
          <p:nvPr/>
        </p:nvSpPr>
        <p:spPr>
          <a:xfrm>
            <a:off x="1043608" y="4283804"/>
            <a:ext cx="2160240" cy="369332"/>
          </a:xfrm>
          <a:prstGeom prst="rect">
            <a:avLst/>
          </a:prstGeom>
          <a:noFill/>
        </p:spPr>
        <p:txBody>
          <a:bodyPr wrap="square" rtlCol="0">
            <a:spAutoFit/>
          </a:bodyPr>
          <a:lstStyle/>
          <a:p>
            <a:pPr algn="ctr"/>
            <a:r>
              <a:rPr lang="fr-FR" b="1" dirty="0"/>
              <a:t>Unité Statistique</a:t>
            </a:r>
            <a:endParaRPr lang="fr-FR" b="1" dirty="0">
              <a:ea typeface="Calibri"/>
              <a:cs typeface="Times New Roman"/>
            </a:endParaRPr>
          </a:p>
        </p:txBody>
      </p:sp>
      <p:sp>
        <p:nvSpPr>
          <p:cNvPr id="10" name="ZoneTexte 9"/>
          <p:cNvSpPr txBox="1"/>
          <p:nvPr/>
        </p:nvSpPr>
        <p:spPr>
          <a:xfrm>
            <a:off x="395536" y="4941168"/>
            <a:ext cx="3672408" cy="369332"/>
          </a:xfrm>
          <a:prstGeom prst="rect">
            <a:avLst/>
          </a:prstGeom>
          <a:noFill/>
        </p:spPr>
        <p:txBody>
          <a:bodyPr wrap="square" rtlCol="0">
            <a:spAutoFit/>
          </a:bodyPr>
          <a:lstStyle/>
          <a:p>
            <a:pPr algn="ctr"/>
            <a:r>
              <a:rPr lang="fr-FR" b="1" dirty="0"/>
              <a:t>Variable ou caractère statistique</a:t>
            </a:r>
            <a:endParaRPr lang="fr-FR" b="1" dirty="0">
              <a:ea typeface="Calibri"/>
              <a:cs typeface="Times New Roman"/>
            </a:endParaRPr>
          </a:p>
        </p:txBody>
      </p:sp>
      <p:sp>
        <p:nvSpPr>
          <p:cNvPr id="11" name="ZoneTexte 10"/>
          <p:cNvSpPr txBox="1"/>
          <p:nvPr/>
        </p:nvSpPr>
        <p:spPr>
          <a:xfrm>
            <a:off x="539552" y="5723964"/>
            <a:ext cx="3096344" cy="369332"/>
          </a:xfrm>
          <a:prstGeom prst="rect">
            <a:avLst/>
          </a:prstGeom>
          <a:noFill/>
        </p:spPr>
        <p:txBody>
          <a:bodyPr wrap="square" rtlCol="0">
            <a:spAutoFit/>
          </a:bodyPr>
          <a:lstStyle/>
          <a:p>
            <a:pPr algn="ctr"/>
            <a:r>
              <a:rPr lang="fr-FR" b="1" dirty="0"/>
              <a:t>Modalités</a:t>
            </a:r>
            <a:endParaRPr lang="fr-FR" b="1" dirty="0">
              <a:ea typeface="Calibri"/>
              <a:cs typeface="Times New Roman"/>
            </a:endParaRPr>
          </a:p>
        </p:txBody>
      </p:sp>
      <p:sp>
        <p:nvSpPr>
          <p:cNvPr id="12" name="ZoneTexte 11"/>
          <p:cNvSpPr txBox="1"/>
          <p:nvPr/>
        </p:nvSpPr>
        <p:spPr>
          <a:xfrm>
            <a:off x="5220072" y="3779748"/>
            <a:ext cx="2592288" cy="369332"/>
          </a:xfrm>
          <a:prstGeom prst="rect">
            <a:avLst/>
          </a:prstGeom>
          <a:noFill/>
        </p:spPr>
        <p:txBody>
          <a:bodyPr wrap="square" rtlCol="0">
            <a:spAutoFit/>
          </a:bodyPr>
          <a:lstStyle/>
          <a:p>
            <a:pPr algn="ctr"/>
            <a:r>
              <a:rPr lang="fr-FR" b="1" dirty="0"/>
              <a:t>2000 salariés</a:t>
            </a:r>
            <a:endParaRPr lang="fr-FR" b="1" dirty="0">
              <a:ea typeface="Calibri"/>
              <a:cs typeface="Times New Roman"/>
            </a:endParaRPr>
          </a:p>
        </p:txBody>
      </p:sp>
      <p:sp>
        <p:nvSpPr>
          <p:cNvPr id="13" name="ZoneTexte 12"/>
          <p:cNvSpPr txBox="1"/>
          <p:nvPr/>
        </p:nvSpPr>
        <p:spPr>
          <a:xfrm>
            <a:off x="4788024" y="4283804"/>
            <a:ext cx="3528392" cy="369332"/>
          </a:xfrm>
          <a:prstGeom prst="rect">
            <a:avLst/>
          </a:prstGeom>
          <a:noFill/>
        </p:spPr>
        <p:txBody>
          <a:bodyPr wrap="square" rtlCol="0">
            <a:spAutoFit/>
          </a:bodyPr>
          <a:lstStyle/>
          <a:p>
            <a:pPr algn="ctr"/>
            <a:r>
              <a:rPr lang="fr-FR" b="1" dirty="0"/>
              <a:t>Chaque salarié</a:t>
            </a:r>
            <a:endParaRPr lang="fr-FR" b="1" dirty="0">
              <a:ea typeface="Calibri"/>
              <a:cs typeface="Times New Roman"/>
            </a:endParaRPr>
          </a:p>
        </p:txBody>
      </p:sp>
      <p:sp>
        <p:nvSpPr>
          <p:cNvPr id="14" name="ZoneTexte 13"/>
          <p:cNvSpPr txBox="1"/>
          <p:nvPr/>
        </p:nvSpPr>
        <p:spPr>
          <a:xfrm>
            <a:off x="4499992" y="4941168"/>
            <a:ext cx="4104456" cy="369332"/>
          </a:xfrm>
          <a:prstGeom prst="rect">
            <a:avLst/>
          </a:prstGeom>
          <a:noFill/>
        </p:spPr>
        <p:txBody>
          <a:bodyPr wrap="square" rtlCol="0">
            <a:spAutoFit/>
          </a:bodyPr>
          <a:lstStyle/>
          <a:p>
            <a:pPr algn="ctr"/>
            <a:r>
              <a:rPr lang="fr-FR" b="1" dirty="0"/>
              <a:t>Ancienneté </a:t>
            </a:r>
          </a:p>
        </p:txBody>
      </p:sp>
      <p:sp>
        <p:nvSpPr>
          <p:cNvPr id="15" name="ZoneTexte 14"/>
          <p:cNvSpPr txBox="1"/>
          <p:nvPr/>
        </p:nvSpPr>
        <p:spPr>
          <a:xfrm>
            <a:off x="4572000" y="5723964"/>
            <a:ext cx="4104456" cy="369332"/>
          </a:xfrm>
          <a:prstGeom prst="rect">
            <a:avLst/>
          </a:prstGeom>
          <a:noFill/>
        </p:spPr>
        <p:txBody>
          <a:bodyPr wrap="square" rtlCol="0">
            <a:spAutoFit/>
          </a:bodyPr>
          <a:lstStyle/>
          <a:p>
            <a:pPr algn="ctr"/>
            <a:r>
              <a:rPr lang="fr-FR" b="1" dirty="0"/>
              <a:t>[0 an ; 35 ans[</a:t>
            </a:r>
            <a:endParaRPr lang="fr-FR" b="1" dirty="0">
              <a:ea typeface="Calibri"/>
              <a:cs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1000"/>
                                        <p:tgtEl>
                                          <p:spTgt spid="5">
                                            <p:txEl>
                                              <p:pRg st="2" end="2"/>
                                            </p:txEl>
                                          </p:spTgt>
                                        </p:tgtEl>
                                      </p:cBhvr>
                                    </p:animEffect>
                                    <p:anim calcmode="lin" valueType="num">
                                      <p:cBhvr>
                                        <p:cTn id="2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fade">
                                      <p:cBhvr>
                                        <p:cTn id="24" dur="1000"/>
                                        <p:tgtEl>
                                          <p:spTgt spid="5">
                                            <p:txEl>
                                              <p:pRg st="3" end="3"/>
                                            </p:txEl>
                                          </p:spTgt>
                                        </p:tgtEl>
                                      </p:cBhvr>
                                    </p:animEffect>
                                    <p:anim calcmode="lin" valueType="num">
                                      <p:cBhvr>
                                        <p:cTn id="2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Effect transition="in" filter="fade">
                                      <p:cBhvr>
                                        <p:cTn id="31" dur="1000"/>
                                        <p:tgtEl>
                                          <p:spTgt spid="5">
                                            <p:txEl>
                                              <p:pRg st="4" end="4"/>
                                            </p:txEl>
                                          </p:spTgt>
                                        </p:tgtEl>
                                      </p:cBhvr>
                                    </p:animEffect>
                                    <p:anim calcmode="lin" valueType="num">
                                      <p:cBhvr>
                                        <p:cTn id="3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1"/>
                                          </p:val>
                                        </p:tav>
                                        <p:tav tm="100000">
                                          <p:val>
                                            <p:strVal val="#ppt_y"/>
                                          </p:val>
                                        </p:tav>
                                      </p:tavLst>
                                    </p:anim>
                                  </p:childTnLst>
                                </p:cTn>
                              </p:par>
                            </p:childTnLst>
                          </p:cTn>
                        </p:par>
                        <p:par>
                          <p:cTn id="40" fill="hold">
                            <p:stCondLst>
                              <p:cond delay="2000"/>
                            </p:stCondLst>
                            <p:childTnLst>
                              <p:par>
                                <p:cTn id="41" presetID="16" presetClass="entr" presetSubtype="21" fill="hold" grpId="0" nodeType="after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barn(inVertical)">
                                      <p:cBhvr>
                                        <p:cTn id="43" dur="500"/>
                                        <p:tgtEl>
                                          <p:spTgt spid="3"/>
                                        </p:tgtEl>
                                      </p:cBhvr>
                                    </p:animEffect>
                                  </p:childTnLst>
                                </p:cTn>
                              </p:par>
                            </p:childTnLst>
                          </p:cTn>
                        </p:par>
                        <p:par>
                          <p:cTn id="44" fill="hold">
                            <p:stCondLst>
                              <p:cond delay="2500"/>
                            </p:stCondLst>
                            <p:childTnLst>
                              <p:par>
                                <p:cTn id="45" presetID="16" presetClass="entr" presetSubtype="21" fill="hold" grpId="0" nodeType="after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arn(inVertical)">
                                      <p:cBhvr>
                                        <p:cTn id="47" dur="500"/>
                                        <p:tgtEl>
                                          <p:spTgt spid="4"/>
                                        </p:tgtEl>
                                      </p:cBhvr>
                                    </p:animEffect>
                                  </p:childTnLst>
                                </p:cTn>
                              </p:par>
                            </p:childTnLst>
                          </p:cTn>
                        </p:par>
                        <p:par>
                          <p:cTn id="48" fill="hold">
                            <p:stCondLst>
                              <p:cond delay="3000"/>
                            </p:stCondLst>
                            <p:childTnLst>
                              <p:par>
                                <p:cTn id="49" presetID="16" presetClass="entr" presetSubtype="21"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barn(inVertical)">
                                      <p:cBhvr>
                                        <p:cTn id="51" dur="500"/>
                                        <p:tgtEl>
                                          <p:spTgt spid="10"/>
                                        </p:tgtEl>
                                      </p:cBhvr>
                                    </p:animEffect>
                                  </p:childTnLst>
                                </p:cTn>
                              </p:par>
                            </p:childTnLst>
                          </p:cTn>
                        </p:par>
                        <p:par>
                          <p:cTn id="52" fill="hold">
                            <p:stCondLst>
                              <p:cond delay="3500"/>
                            </p:stCondLst>
                            <p:childTnLst>
                              <p:par>
                                <p:cTn id="53" presetID="16" presetClass="entr" presetSubtype="21" fill="hold" grpId="0"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barn(inVertical)">
                                      <p:cBhvr>
                                        <p:cTn id="55" dur="500"/>
                                        <p:tgtEl>
                                          <p:spTgt spid="11"/>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barn(inVertical)">
                                      <p:cBhvr>
                                        <p:cTn id="60" dur="500"/>
                                        <p:tgtEl>
                                          <p:spTgt spid="12"/>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barn(inVertical)">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barn(inVertical)">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barn(inVertical)">
                                      <p:cBhvr>
                                        <p:cTn id="7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3" grpId="0"/>
      <p:bldP spid="4" grpId="0"/>
      <p:bldP spid="10" grpId="0"/>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a:bodyPr>
          <a:lstStyle/>
          <a:p>
            <a:pPr algn="l"/>
            <a:r>
              <a:rPr lang="fr-FR" sz="3200" dirty="0">
                <a:solidFill>
                  <a:schemeClr val="bg1"/>
                </a:solidFill>
              </a:rPr>
              <a:t>Nature d’une variable</a:t>
            </a:r>
          </a:p>
        </p:txBody>
      </p:sp>
      <p:sp>
        <p:nvSpPr>
          <p:cNvPr id="3" name="Espace réservé du contenu 2"/>
          <p:cNvSpPr>
            <a:spLocks noGrp="1"/>
          </p:cNvSpPr>
          <p:nvPr>
            <p:ph idx="1"/>
          </p:nvPr>
        </p:nvSpPr>
        <p:spPr>
          <a:xfrm>
            <a:off x="107504" y="1600200"/>
            <a:ext cx="8928992" cy="4781128"/>
          </a:xfrm>
        </p:spPr>
        <p:txBody>
          <a:bodyPr>
            <a:normAutofit/>
          </a:bodyPr>
          <a:lstStyle/>
          <a:p>
            <a:pPr>
              <a:spcBef>
                <a:spcPts val="0"/>
              </a:spcBef>
              <a:buNone/>
            </a:pPr>
            <a:r>
              <a:rPr lang="fr-FR" sz="2600" dirty="0"/>
              <a:t>La nature d'une variable détermine le type d'outil statistique</a:t>
            </a:r>
          </a:p>
          <a:p>
            <a:pPr>
              <a:spcBef>
                <a:spcPts val="0"/>
              </a:spcBef>
              <a:buNone/>
            </a:pPr>
            <a:r>
              <a:rPr lang="fr-FR" sz="2600" dirty="0"/>
              <a:t>qu'on pourra utiliser sur la variable. Pour déterminer sa</a:t>
            </a:r>
          </a:p>
          <a:p>
            <a:pPr>
              <a:spcBef>
                <a:spcPts val="0"/>
              </a:spcBef>
              <a:buNone/>
            </a:pPr>
            <a:r>
              <a:rPr lang="fr-FR" sz="2600" dirty="0"/>
              <a:t>nature, il faut se demander ce qu'on peut faire avec ses</a:t>
            </a:r>
          </a:p>
          <a:p>
            <a:pPr>
              <a:spcBef>
                <a:spcPts val="0"/>
              </a:spcBef>
              <a:buNone/>
            </a:pPr>
            <a:r>
              <a:rPr lang="fr-FR" sz="2600" dirty="0"/>
              <a:t>observations :</a:t>
            </a:r>
          </a:p>
          <a:p>
            <a:pPr algn="ctr">
              <a:spcBef>
                <a:spcPts val="3000"/>
              </a:spcBef>
              <a:spcAft>
                <a:spcPts val="1800"/>
              </a:spcAft>
              <a:buFont typeface="Wingdings" pitchFamily="2" charset="2"/>
              <a:buChar char="v"/>
            </a:pPr>
            <a:r>
              <a:rPr lang="fr-FR" sz="2600" dirty="0"/>
              <a:t>Si on peut effectuer des calculs numériques sur une variable, alors elle est dite quantitative.</a:t>
            </a:r>
          </a:p>
          <a:p>
            <a:pPr algn="ctr">
              <a:spcBef>
                <a:spcPts val="2400"/>
              </a:spcBef>
              <a:buFont typeface="Wingdings" pitchFamily="2" charset="2"/>
              <a:buChar char="v"/>
            </a:pPr>
            <a:r>
              <a:rPr lang="fr-FR" sz="2600" dirty="0"/>
              <a:t>Si on ne peut pas effectuer des calculs dessus, elle est alors dite qualitative.</a:t>
            </a:r>
          </a:p>
          <a:p>
            <a:endParaRPr lang="fr-FR" dirty="0"/>
          </a:p>
        </p:txBody>
      </p:sp>
      <p:sp>
        <p:nvSpPr>
          <p:cNvPr id="4" name="Espace réservé de la date 3"/>
          <p:cNvSpPr>
            <a:spLocks noGrp="1"/>
          </p:cNvSpPr>
          <p:nvPr>
            <p:ph type="dt" sz="half" idx="10"/>
          </p:nvPr>
        </p:nvSpPr>
        <p:spPr/>
        <p:txBody>
          <a:bodyPr/>
          <a:lstStyle/>
          <a:p>
            <a:fld id="{369BDC1E-7BED-49C2-B112-0AD6CDB177FE}"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12</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a:bodyPr>
          <a:lstStyle/>
          <a:p>
            <a:pPr algn="l"/>
            <a:r>
              <a:rPr lang="fr-FR" sz="3200" dirty="0">
                <a:solidFill>
                  <a:schemeClr val="bg1"/>
                </a:solidFill>
              </a:rPr>
              <a:t>Variable qualitative</a:t>
            </a:r>
          </a:p>
        </p:txBody>
      </p:sp>
      <p:sp>
        <p:nvSpPr>
          <p:cNvPr id="3" name="Espace réservé du contenu 2"/>
          <p:cNvSpPr>
            <a:spLocks noGrp="1"/>
          </p:cNvSpPr>
          <p:nvPr>
            <p:ph idx="1"/>
          </p:nvPr>
        </p:nvSpPr>
        <p:spPr>
          <a:xfrm>
            <a:off x="107504" y="908720"/>
            <a:ext cx="8928992" cy="5357850"/>
          </a:xfrm>
        </p:spPr>
        <p:txBody>
          <a:bodyPr>
            <a:normAutofit fontScale="85000" lnSpcReduction="10000"/>
          </a:bodyPr>
          <a:lstStyle/>
          <a:p>
            <a:pPr>
              <a:spcBef>
                <a:spcPts val="0"/>
              </a:spcBef>
              <a:buNone/>
            </a:pPr>
            <a:r>
              <a:rPr lang="fr-FR" sz="2600" dirty="0">
                <a:solidFill>
                  <a:srgbClr val="0070C0"/>
                </a:solidFill>
              </a:rPr>
              <a:t>Variable qualitative </a:t>
            </a:r>
            <a:r>
              <a:rPr lang="fr-FR" sz="2600" dirty="0"/>
              <a:t>: Une variable est dite qualitative si ses modalités ne sont</a:t>
            </a:r>
          </a:p>
          <a:p>
            <a:pPr>
              <a:spcBef>
                <a:spcPts val="0"/>
              </a:spcBef>
              <a:buNone/>
            </a:pPr>
            <a:r>
              <a:rPr lang="fr-FR" sz="2600" dirty="0"/>
              <a:t>pas des nombres (c'est-à-dire ne sont pas mesurables). On ne peut pas</a:t>
            </a:r>
          </a:p>
          <a:p>
            <a:pPr>
              <a:spcBef>
                <a:spcPts val="0"/>
              </a:spcBef>
              <a:buNone/>
            </a:pPr>
            <a:r>
              <a:rPr lang="fr-FR" sz="2600" dirty="0"/>
              <a:t>effectuer des calculs numériques comme la moyenne, variance…</a:t>
            </a:r>
            <a:r>
              <a:rPr lang="fr-FR" sz="2600" dirty="0" err="1"/>
              <a:t>etc</a:t>
            </a:r>
            <a:r>
              <a:rPr lang="fr-FR" sz="2600" dirty="0"/>
              <a:t> sur celle</a:t>
            </a:r>
          </a:p>
          <a:p>
            <a:pPr>
              <a:spcBef>
                <a:spcPts val="0"/>
              </a:spcBef>
              <a:buNone/>
            </a:pPr>
            <a:r>
              <a:rPr lang="fr-FR" sz="2600" dirty="0"/>
              <a:t>ci.</a:t>
            </a:r>
          </a:p>
          <a:p>
            <a:pPr>
              <a:spcBef>
                <a:spcPts val="600"/>
              </a:spcBef>
              <a:buNone/>
            </a:pPr>
            <a:r>
              <a:rPr lang="fr-FR" sz="2600" dirty="0"/>
              <a:t>Les modalités d’une variable qualitative peuvent être classées sur deux types</a:t>
            </a:r>
          </a:p>
          <a:p>
            <a:pPr>
              <a:spcBef>
                <a:spcPts val="0"/>
              </a:spcBef>
              <a:buNone/>
            </a:pPr>
            <a:r>
              <a:rPr lang="fr-FR" sz="2600" dirty="0"/>
              <a:t>d’échelle : </a:t>
            </a:r>
            <a:r>
              <a:rPr lang="fr-FR" sz="2600" dirty="0">
                <a:solidFill>
                  <a:srgbClr val="FF0000"/>
                </a:solidFill>
              </a:rPr>
              <a:t>nominale</a:t>
            </a:r>
            <a:r>
              <a:rPr lang="fr-FR" sz="2600" dirty="0"/>
              <a:t> ou </a:t>
            </a:r>
            <a:r>
              <a:rPr lang="fr-FR" sz="2600" dirty="0">
                <a:solidFill>
                  <a:srgbClr val="FF0000"/>
                </a:solidFill>
              </a:rPr>
              <a:t>ordinale</a:t>
            </a:r>
            <a:r>
              <a:rPr lang="fr-FR" sz="2600" dirty="0"/>
              <a:t>. À ces deux types d’échelle correspondent</a:t>
            </a:r>
          </a:p>
          <a:p>
            <a:pPr>
              <a:spcBef>
                <a:spcPts val="0"/>
              </a:spcBef>
              <a:buNone/>
            </a:pPr>
            <a:r>
              <a:rPr lang="fr-FR" sz="2600" dirty="0"/>
              <a:t>deux types de variables qualitatives.</a:t>
            </a:r>
          </a:p>
          <a:p>
            <a:pPr algn="ctr">
              <a:spcBef>
                <a:spcPts val="1800"/>
              </a:spcBef>
              <a:buFont typeface="Wingdings" pitchFamily="2" charset="2"/>
              <a:buChar char="v"/>
            </a:pPr>
            <a:r>
              <a:rPr lang="fr-FR" sz="2600" dirty="0">
                <a:solidFill>
                  <a:srgbClr val="0070C0"/>
                </a:solidFill>
              </a:rPr>
              <a:t>Variable qualitative nominale </a:t>
            </a:r>
            <a:r>
              <a:rPr lang="fr-FR" sz="2600" dirty="0"/>
              <a:t>: Une variable qualitative est dite</a:t>
            </a:r>
          </a:p>
          <a:p>
            <a:pPr>
              <a:spcBef>
                <a:spcPts val="0"/>
              </a:spcBef>
              <a:buNone/>
            </a:pPr>
            <a:r>
              <a:rPr lang="fr-FR" sz="2600" dirty="0"/>
              <a:t>nominale s’il n’y a pas de relation d’ordre entre ses modalités, qui sont</a:t>
            </a:r>
          </a:p>
          <a:p>
            <a:pPr>
              <a:spcBef>
                <a:spcPts val="0"/>
              </a:spcBef>
              <a:spcAft>
                <a:spcPts val="1800"/>
              </a:spcAft>
              <a:buNone/>
            </a:pPr>
            <a:r>
              <a:rPr lang="fr-FR" sz="2600" dirty="0"/>
              <a:t>simplement des noms (ou étiquettes).</a:t>
            </a:r>
          </a:p>
          <a:p>
            <a:pPr algn="ctr">
              <a:spcBef>
                <a:spcPts val="0"/>
              </a:spcBef>
              <a:buFont typeface="Wingdings" pitchFamily="2" charset="2"/>
              <a:buChar char="v"/>
            </a:pPr>
            <a:r>
              <a:rPr lang="fr-FR" sz="2600" dirty="0">
                <a:solidFill>
                  <a:srgbClr val="0070C0"/>
                </a:solidFill>
              </a:rPr>
              <a:t>Variable qualitative ordinale </a:t>
            </a:r>
            <a:r>
              <a:rPr lang="fr-FR" sz="2600" dirty="0"/>
              <a:t>: Une variable qualitative est dite</a:t>
            </a:r>
          </a:p>
          <a:p>
            <a:pPr>
              <a:spcBef>
                <a:spcPts val="0"/>
              </a:spcBef>
              <a:buNone/>
            </a:pPr>
            <a:r>
              <a:rPr lang="fr-FR" sz="2600" dirty="0"/>
              <a:t>ordinale s’il existe une relation d’ordre entre ses modalités c'est-à-dire</a:t>
            </a:r>
          </a:p>
          <a:p>
            <a:pPr>
              <a:spcBef>
                <a:spcPts val="0"/>
              </a:spcBef>
              <a:buNone/>
            </a:pPr>
            <a:r>
              <a:rPr lang="fr-FR" sz="2600" dirty="0"/>
              <a:t>que l’on peut opérer un classement de ses modalités, de la plus petite</a:t>
            </a:r>
          </a:p>
          <a:p>
            <a:pPr>
              <a:spcBef>
                <a:spcPts val="0"/>
              </a:spcBef>
              <a:buNone/>
            </a:pPr>
            <a:r>
              <a:rPr lang="fr-FR" sz="2600" dirty="0"/>
              <a:t>à la plus grande (ou inversement), de la plus fréquente à moins fréquente ou</a:t>
            </a:r>
          </a:p>
          <a:p>
            <a:pPr>
              <a:spcBef>
                <a:spcPts val="0"/>
              </a:spcBef>
              <a:buNone/>
            </a:pPr>
            <a:r>
              <a:rPr lang="fr-FR" sz="2600" dirty="0"/>
              <a:t>se place après ou précède.</a:t>
            </a:r>
          </a:p>
          <a:p>
            <a:endParaRPr lang="fr-FR" sz="2600" dirty="0"/>
          </a:p>
          <a:p>
            <a:endParaRPr lang="fr-FR" sz="2600" dirty="0"/>
          </a:p>
          <a:p>
            <a:endParaRPr lang="fr-FR" sz="2600" dirty="0"/>
          </a:p>
          <a:p>
            <a:endParaRPr lang="fr-FR" dirty="0"/>
          </a:p>
        </p:txBody>
      </p:sp>
      <p:sp>
        <p:nvSpPr>
          <p:cNvPr id="4" name="Espace réservé de la date 3"/>
          <p:cNvSpPr>
            <a:spLocks noGrp="1"/>
          </p:cNvSpPr>
          <p:nvPr>
            <p:ph type="dt" sz="half" idx="10"/>
          </p:nvPr>
        </p:nvSpPr>
        <p:spPr/>
        <p:txBody>
          <a:bodyPr/>
          <a:lstStyle/>
          <a:p>
            <a:fld id="{14C107EC-BF73-4A27-94A8-CD4F03B0D727}"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13</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arn(inVertical)">
                                      <p:cBhvr>
                                        <p:cTn id="32" dur="500"/>
                                        <p:tgtEl>
                                          <p:spTgt spid="3">
                                            <p:txEl>
                                              <p:pRg st="7" end="7"/>
                                            </p:txEl>
                                          </p:spTgt>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barn(inVertical)">
                                      <p:cBhvr>
                                        <p:cTn id="35" dur="500"/>
                                        <p:tgtEl>
                                          <p:spTgt spid="3">
                                            <p:txEl>
                                              <p:pRg st="8" end="8"/>
                                            </p:txEl>
                                          </p:spTgt>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barn(inVertical)">
                                      <p:cBhvr>
                                        <p:cTn id="38" dur="5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barn(inVertical)">
                                      <p:cBhvr>
                                        <p:cTn id="43" dur="500"/>
                                        <p:tgtEl>
                                          <p:spTgt spid="3">
                                            <p:txEl>
                                              <p:pRg st="10" end="10"/>
                                            </p:txEl>
                                          </p:spTgt>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barn(inVertical)">
                                      <p:cBhvr>
                                        <p:cTn id="46" dur="500"/>
                                        <p:tgtEl>
                                          <p:spTgt spid="3">
                                            <p:txEl>
                                              <p:pRg st="11" end="11"/>
                                            </p:txEl>
                                          </p:spTgt>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barn(inVertical)">
                                      <p:cBhvr>
                                        <p:cTn id="49" dur="500"/>
                                        <p:tgtEl>
                                          <p:spTgt spid="3">
                                            <p:txEl>
                                              <p:pRg st="12" end="12"/>
                                            </p:txEl>
                                          </p:spTgt>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barn(inVertical)">
                                      <p:cBhvr>
                                        <p:cTn id="52" dur="500"/>
                                        <p:tgtEl>
                                          <p:spTgt spid="3">
                                            <p:txEl>
                                              <p:pRg st="13" end="13"/>
                                            </p:txEl>
                                          </p:spTgt>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Effect transition="in" filter="barn(inVertical)">
                                      <p:cBhvr>
                                        <p:cTn id="55"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extLst>
              <p:ext uri="{D42A27DB-BD31-4B8C-83A1-F6EECF244321}">
                <p14:modId xmlns:p14="http://schemas.microsoft.com/office/powerpoint/2010/main" val="210935793"/>
              </p:ext>
            </p:extLst>
          </p:nvPr>
        </p:nvGraphicFramePr>
        <p:xfrm>
          <a:off x="0" y="0"/>
          <a:ext cx="9144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Espace réservé de la date 2"/>
          <p:cNvSpPr>
            <a:spLocks noGrp="1"/>
          </p:cNvSpPr>
          <p:nvPr>
            <p:ph type="dt" sz="half" idx="10"/>
          </p:nvPr>
        </p:nvSpPr>
        <p:spPr/>
        <p:txBody>
          <a:bodyPr/>
          <a:lstStyle/>
          <a:p>
            <a:fld id="{32B25C04-2283-4E1D-8D5B-546D3E49463B}"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14</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
        <p:nvSpPr>
          <p:cNvPr id="7" name="ZoneTexte 6"/>
          <p:cNvSpPr txBox="1"/>
          <p:nvPr/>
        </p:nvSpPr>
        <p:spPr>
          <a:xfrm>
            <a:off x="179512" y="2564904"/>
            <a:ext cx="3600400" cy="646331"/>
          </a:xfrm>
          <a:prstGeom prst="rect">
            <a:avLst/>
          </a:prstGeom>
          <a:noFill/>
        </p:spPr>
        <p:txBody>
          <a:bodyPr wrap="square" rtlCol="0">
            <a:spAutoFit/>
          </a:bodyPr>
          <a:lstStyle/>
          <a:p>
            <a:pPr lvl="0" algn="ctr"/>
            <a:r>
              <a:rPr lang="fr-FR" b="1" dirty="0">
                <a:solidFill>
                  <a:schemeClr val="bg1"/>
                </a:solidFill>
              </a:rPr>
              <a:t>Couleur (marron, noire, bleu, grise, rouge)</a:t>
            </a:r>
          </a:p>
        </p:txBody>
      </p:sp>
      <p:sp>
        <p:nvSpPr>
          <p:cNvPr id="8" name="ZoneTexte 7"/>
          <p:cNvSpPr txBox="1"/>
          <p:nvPr/>
        </p:nvSpPr>
        <p:spPr>
          <a:xfrm>
            <a:off x="179512" y="4005064"/>
            <a:ext cx="3384376" cy="369332"/>
          </a:xfrm>
          <a:prstGeom prst="rect">
            <a:avLst/>
          </a:prstGeom>
          <a:noFill/>
        </p:spPr>
        <p:txBody>
          <a:bodyPr wrap="square" rtlCol="0">
            <a:spAutoFit/>
          </a:bodyPr>
          <a:lstStyle/>
          <a:p>
            <a:pPr lvl="0" algn="ctr"/>
            <a:r>
              <a:rPr lang="fr-FR" b="1" dirty="0">
                <a:solidFill>
                  <a:schemeClr val="bg1"/>
                </a:solidFill>
              </a:rPr>
              <a:t>Sexe (féminin/masculin)</a:t>
            </a:r>
          </a:p>
        </p:txBody>
      </p:sp>
      <p:sp>
        <p:nvSpPr>
          <p:cNvPr id="9" name="ZoneTexte 8"/>
          <p:cNvSpPr txBox="1"/>
          <p:nvPr/>
        </p:nvSpPr>
        <p:spPr>
          <a:xfrm>
            <a:off x="179512" y="4653136"/>
            <a:ext cx="3456384" cy="646331"/>
          </a:xfrm>
          <a:prstGeom prst="rect">
            <a:avLst/>
          </a:prstGeom>
          <a:noFill/>
        </p:spPr>
        <p:txBody>
          <a:bodyPr wrap="square" rtlCol="0">
            <a:spAutoFit/>
          </a:bodyPr>
          <a:lstStyle/>
          <a:p>
            <a:pPr lvl="0" algn="ctr"/>
            <a:r>
              <a:rPr lang="fr-FR" b="1" dirty="0">
                <a:solidFill>
                  <a:schemeClr val="bg1"/>
                </a:solidFill>
              </a:rPr>
              <a:t>Situation familiale (célibataire/marié)</a:t>
            </a:r>
          </a:p>
        </p:txBody>
      </p:sp>
      <p:sp>
        <p:nvSpPr>
          <p:cNvPr id="10" name="ZoneTexte 9"/>
          <p:cNvSpPr txBox="1"/>
          <p:nvPr/>
        </p:nvSpPr>
        <p:spPr>
          <a:xfrm>
            <a:off x="179512" y="3338732"/>
            <a:ext cx="3600400" cy="369332"/>
          </a:xfrm>
          <a:prstGeom prst="rect">
            <a:avLst/>
          </a:prstGeom>
          <a:noFill/>
        </p:spPr>
        <p:txBody>
          <a:bodyPr wrap="square" rtlCol="0">
            <a:spAutoFit/>
          </a:bodyPr>
          <a:lstStyle/>
          <a:p>
            <a:pPr lvl="0" algn="ctr"/>
            <a:r>
              <a:rPr lang="fr-FR" b="1" dirty="0">
                <a:solidFill>
                  <a:schemeClr val="bg1"/>
                </a:solidFill>
              </a:rPr>
              <a:t>Groupe sanguin (A/B/O/AB)</a:t>
            </a:r>
          </a:p>
        </p:txBody>
      </p:sp>
      <p:sp>
        <p:nvSpPr>
          <p:cNvPr id="11" name="ZoneTexte 10"/>
          <p:cNvSpPr txBox="1"/>
          <p:nvPr/>
        </p:nvSpPr>
        <p:spPr>
          <a:xfrm>
            <a:off x="1043608" y="2060848"/>
            <a:ext cx="1800200" cy="369332"/>
          </a:xfrm>
          <a:prstGeom prst="rect">
            <a:avLst/>
          </a:prstGeom>
          <a:noFill/>
        </p:spPr>
        <p:txBody>
          <a:bodyPr wrap="square" rtlCol="0">
            <a:spAutoFit/>
          </a:bodyPr>
          <a:lstStyle/>
          <a:p>
            <a:pPr lvl="0" algn="ctr"/>
            <a:r>
              <a:rPr lang="fr-FR" b="1" u="sng" dirty="0">
                <a:solidFill>
                  <a:schemeClr val="bg1"/>
                </a:solidFill>
              </a:rPr>
              <a:t>EXEMPLES</a:t>
            </a:r>
          </a:p>
        </p:txBody>
      </p:sp>
      <p:sp>
        <p:nvSpPr>
          <p:cNvPr id="12" name="ZoneTexte 11"/>
          <p:cNvSpPr txBox="1"/>
          <p:nvPr/>
        </p:nvSpPr>
        <p:spPr>
          <a:xfrm>
            <a:off x="5292080" y="2051556"/>
            <a:ext cx="2448272" cy="369332"/>
          </a:xfrm>
          <a:prstGeom prst="rect">
            <a:avLst/>
          </a:prstGeom>
          <a:noFill/>
        </p:spPr>
        <p:txBody>
          <a:bodyPr wrap="square" rtlCol="0">
            <a:spAutoFit/>
          </a:bodyPr>
          <a:lstStyle/>
          <a:p>
            <a:pPr lvl="0" algn="ctr"/>
            <a:r>
              <a:rPr lang="fr-FR" b="1" u="sng" dirty="0">
                <a:solidFill>
                  <a:schemeClr val="bg1"/>
                </a:solidFill>
              </a:rPr>
              <a:t>EXEMPLES</a:t>
            </a:r>
          </a:p>
        </p:txBody>
      </p:sp>
      <p:sp>
        <p:nvSpPr>
          <p:cNvPr id="13" name="ZoneTexte 12"/>
          <p:cNvSpPr txBox="1"/>
          <p:nvPr/>
        </p:nvSpPr>
        <p:spPr>
          <a:xfrm>
            <a:off x="4355976" y="2566645"/>
            <a:ext cx="4608512" cy="646331"/>
          </a:xfrm>
          <a:prstGeom prst="rect">
            <a:avLst/>
          </a:prstGeom>
          <a:noFill/>
        </p:spPr>
        <p:txBody>
          <a:bodyPr wrap="square" rtlCol="0">
            <a:spAutoFit/>
          </a:bodyPr>
          <a:lstStyle/>
          <a:p>
            <a:pPr lvl="0" algn="ctr"/>
            <a:r>
              <a:rPr lang="fr-FR" b="1" dirty="0">
                <a:solidFill>
                  <a:schemeClr val="bg1"/>
                </a:solidFill>
              </a:rPr>
              <a:t>Comportement (très mauvais, mauvais, bon, très bon, excellent)</a:t>
            </a:r>
          </a:p>
        </p:txBody>
      </p:sp>
      <p:sp>
        <p:nvSpPr>
          <p:cNvPr id="14" name="ZoneTexte 13"/>
          <p:cNvSpPr txBox="1"/>
          <p:nvPr/>
        </p:nvSpPr>
        <p:spPr>
          <a:xfrm>
            <a:off x="4283968" y="3284984"/>
            <a:ext cx="4608512" cy="646331"/>
          </a:xfrm>
          <a:prstGeom prst="rect">
            <a:avLst/>
          </a:prstGeom>
          <a:noFill/>
        </p:spPr>
        <p:txBody>
          <a:bodyPr wrap="square" rtlCol="0">
            <a:spAutoFit/>
          </a:bodyPr>
          <a:lstStyle/>
          <a:p>
            <a:pPr lvl="0" algn="ctr"/>
            <a:r>
              <a:rPr lang="fr-FR" b="1" dirty="0">
                <a:solidFill>
                  <a:schemeClr val="bg1"/>
                </a:solidFill>
              </a:rPr>
              <a:t>Niveau scolaire (analphabète, primaire, secondaire, universitaire)</a:t>
            </a:r>
          </a:p>
        </p:txBody>
      </p:sp>
      <p:sp>
        <p:nvSpPr>
          <p:cNvPr id="15" name="ZoneTexte 14"/>
          <p:cNvSpPr txBox="1"/>
          <p:nvPr/>
        </p:nvSpPr>
        <p:spPr>
          <a:xfrm>
            <a:off x="4283968" y="4006805"/>
            <a:ext cx="4608512" cy="646331"/>
          </a:xfrm>
          <a:prstGeom prst="rect">
            <a:avLst/>
          </a:prstGeom>
          <a:noFill/>
        </p:spPr>
        <p:txBody>
          <a:bodyPr wrap="square" rtlCol="0">
            <a:spAutoFit/>
          </a:bodyPr>
          <a:lstStyle/>
          <a:p>
            <a:pPr lvl="0" algn="ctr">
              <a:spcBef>
                <a:spcPct val="0"/>
              </a:spcBef>
            </a:pPr>
            <a:r>
              <a:rPr lang="fr-FR" b="1" dirty="0">
                <a:solidFill>
                  <a:schemeClr val="bg1"/>
                </a:solidFill>
              </a:rPr>
              <a:t>Intensité de la douleur (aucune, faible, moyenne, forte, très forte)</a:t>
            </a:r>
          </a:p>
        </p:txBody>
      </p:sp>
      <p:sp>
        <p:nvSpPr>
          <p:cNvPr id="16" name="ZoneTexte 15"/>
          <p:cNvSpPr txBox="1"/>
          <p:nvPr/>
        </p:nvSpPr>
        <p:spPr>
          <a:xfrm>
            <a:off x="4283968" y="4654877"/>
            <a:ext cx="4608512" cy="646331"/>
          </a:xfrm>
          <a:prstGeom prst="rect">
            <a:avLst/>
          </a:prstGeom>
          <a:noFill/>
        </p:spPr>
        <p:txBody>
          <a:bodyPr wrap="square" rtlCol="0">
            <a:spAutoFit/>
          </a:bodyPr>
          <a:lstStyle/>
          <a:p>
            <a:pPr lvl="0" algn="ctr"/>
            <a:r>
              <a:rPr lang="fr-FR" b="1" dirty="0">
                <a:solidFill>
                  <a:schemeClr val="bg1"/>
                </a:solidFill>
              </a:rPr>
              <a:t>Consommation de tabac (absence, rarement, modéré, souvent)  </a:t>
            </a:r>
          </a:p>
        </p:txBody>
      </p:sp>
      <p:sp>
        <p:nvSpPr>
          <p:cNvPr id="17" name="ZoneTexte 16"/>
          <p:cNvSpPr txBox="1"/>
          <p:nvPr/>
        </p:nvSpPr>
        <p:spPr>
          <a:xfrm>
            <a:off x="4355976" y="5446965"/>
            <a:ext cx="4608512" cy="646331"/>
          </a:xfrm>
          <a:prstGeom prst="rect">
            <a:avLst/>
          </a:prstGeom>
          <a:noFill/>
        </p:spPr>
        <p:txBody>
          <a:bodyPr wrap="square" rtlCol="0">
            <a:spAutoFit/>
          </a:bodyPr>
          <a:lstStyle/>
          <a:p>
            <a:pPr lvl="0" algn="ctr"/>
            <a:r>
              <a:rPr lang="fr-FR" b="1" dirty="0">
                <a:solidFill>
                  <a:schemeClr val="bg1"/>
                </a:solidFill>
              </a:rPr>
              <a:t>Classement à un examen (1</a:t>
            </a:r>
            <a:r>
              <a:rPr lang="fr-FR" b="1" baseline="30000" dirty="0">
                <a:solidFill>
                  <a:schemeClr val="bg1"/>
                </a:solidFill>
              </a:rPr>
              <a:t>er</a:t>
            </a:r>
            <a:r>
              <a:rPr lang="fr-FR" b="1" dirty="0">
                <a:solidFill>
                  <a:schemeClr val="bg1"/>
                </a:solidFill>
              </a:rPr>
              <a:t> , 2</a:t>
            </a:r>
            <a:r>
              <a:rPr lang="fr-FR" b="1" baseline="30000" dirty="0">
                <a:solidFill>
                  <a:schemeClr val="bg1"/>
                </a:solidFill>
              </a:rPr>
              <a:t>ème</a:t>
            </a:r>
            <a:r>
              <a:rPr lang="fr-FR" b="1" dirty="0">
                <a:solidFill>
                  <a:schemeClr val="bg1"/>
                </a:solidFill>
              </a:rPr>
              <a:t> , 3</a:t>
            </a:r>
            <a:r>
              <a:rPr lang="fr-FR" b="1" baseline="30000" dirty="0">
                <a:solidFill>
                  <a:schemeClr val="bg1"/>
                </a:solidFill>
              </a:rPr>
              <a:t>ème</a:t>
            </a:r>
            <a:r>
              <a:rPr lang="fr-FR" b="1" dirty="0">
                <a:solidFill>
                  <a:schemeClr val="bg1"/>
                </a:solidFill>
              </a:rPr>
              <a:t>, 4</a:t>
            </a:r>
            <a:r>
              <a:rPr lang="fr-FR" b="1" baseline="30000" dirty="0">
                <a:solidFill>
                  <a:schemeClr val="bg1"/>
                </a:solidFill>
              </a:rPr>
              <a:t>ème</a:t>
            </a:r>
            <a:r>
              <a:rPr lang="fr-FR" b="1" dirty="0">
                <a:solidFill>
                  <a:schemeClr val="bg1"/>
                </a:solidFill>
              </a:rPr>
              <a:t> )</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graphicEl>
                                              <a:dgm id="{4CC85EF1-C23D-4788-82D0-61F8A1945A2A}"/>
                                            </p:graphicEl>
                                          </p:spTgt>
                                        </p:tgtEl>
                                        <p:attrNameLst>
                                          <p:attrName>style.visibility</p:attrName>
                                        </p:attrNameLst>
                                      </p:cBhvr>
                                      <p:to>
                                        <p:strVal val="visible"/>
                                      </p:to>
                                    </p:set>
                                    <p:animEffect transition="in" filter="barn(inVertical)">
                                      <p:cBhvr>
                                        <p:cTn id="7" dur="500"/>
                                        <p:tgtEl>
                                          <p:spTgt spid="4">
                                            <p:graphicEl>
                                              <a:dgm id="{4CC85EF1-C23D-4788-82D0-61F8A1945A2A}"/>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graphicEl>
                                              <a:dgm id="{B68F5DF1-6ECD-46F6-A0D3-0CEC560CC82C}"/>
                                            </p:graphicEl>
                                          </p:spTgt>
                                        </p:tgtEl>
                                        <p:attrNameLst>
                                          <p:attrName>style.visibility</p:attrName>
                                        </p:attrNameLst>
                                      </p:cBhvr>
                                      <p:to>
                                        <p:strVal val="visible"/>
                                      </p:to>
                                    </p:set>
                                    <p:animEffect transition="in" filter="barn(inVertical)">
                                      <p:cBhvr>
                                        <p:cTn id="12" dur="500"/>
                                        <p:tgtEl>
                                          <p:spTgt spid="4">
                                            <p:graphicEl>
                                              <a:dgm id="{B68F5DF1-6ECD-46F6-A0D3-0CEC560CC82C}"/>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graphicEl>
                                              <a:dgm id="{9E8F1C0C-E2B9-46C1-B0B9-465B945B867A}"/>
                                            </p:graphicEl>
                                          </p:spTgt>
                                        </p:tgtEl>
                                        <p:attrNameLst>
                                          <p:attrName>style.visibility</p:attrName>
                                        </p:attrNameLst>
                                      </p:cBhvr>
                                      <p:to>
                                        <p:strVal val="visible"/>
                                      </p:to>
                                    </p:set>
                                    <p:animEffect transition="in" filter="barn(inVertical)">
                                      <p:cBhvr>
                                        <p:cTn id="17" dur="500"/>
                                        <p:tgtEl>
                                          <p:spTgt spid="4">
                                            <p:graphicEl>
                                              <a:dgm id="{9E8F1C0C-E2B9-46C1-B0B9-465B945B867A}"/>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graphicEl>
                                              <a:dgm id="{0841DDE4-9387-425E-824B-A73050130F7F}"/>
                                            </p:graphicEl>
                                          </p:spTgt>
                                        </p:tgtEl>
                                        <p:attrNameLst>
                                          <p:attrName>style.visibility</p:attrName>
                                        </p:attrNameLst>
                                      </p:cBhvr>
                                      <p:to>
                                        <p:strVal val="visible"/>
                                      </p:to>
                                    </p:set>
                                    <p:animEffect transition="in" filter="barn(inVertical)">
                                      <p:cBhvr>
                                        <p:cTn id="22" dur="500"/>
                                        <p:tgtEl>
                                          <p:spTgt spid="4">
                                            <p:graphicEl>
                                              <a:dgm id="{0841DDE4-9387-425E-824B-A73050130F7F}"/>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graphicEl>
                                              <a:dgm id="{512461DE-D3FF-43F8-BC50-7FDB149A2686}"/>
                                            </p:graphicEl>
                                          </p:spTgt>
                                        </p:tgtEl>
                                        <p:attrNameLst>
                                          <p:attrName>style.visibility</p:attrName>
                                        </p:attrNameLst>
                                      </p:cBhvr>
                                      <p:to>
                                        <p:strVal val="visible"/>
                                      </p:to>
                                    </p:set>
                                    <p:animEffect transition="in" filter="barn(inVertical)">
                                      <p:cBhvr>
                                        <p:cTn id="27" dur="500"/>
                                        <p:tgtEl>
                                          <p:spTgt spid="4">
                                            <p:graphicEl>
                                              <a:dgm id="{512461DE-D3FF-43F8-BC50-7FDB149A2686}"/>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inVertic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arn(inVertical)">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arn(inVertical)">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barn(inVertical)">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arn(inVertical)">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arn(inVertical)">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barn(inVertical)">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barn(inVertical)">
                                      <p:cBhvr>
                                        <p:cTn id="67" dur="5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barn(inVertical)">
                                      <p:cBhvr>
                                        <p:cTn id="72" dur="5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barn(inVertical)">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barn(inVertical)">
                                      <p:cBhvr>
                                        <p:cTn id="8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P spid="7" grpId="0"/>
      <p:bldP spid="8" grpId="0"/>
      <p:bldP spid="9" grpId="0"/>
      <p:bldP spid="10" grpId="0"/>
      <p:bldP spid="11" grpId="0"/>
      <p:bldP spid="12" grpId="0"/>
      <p:bldP spid="13" grpId="0"/>
      <p:bldP spid="14" grpId="0"/>
      <p:bldP spid="15" grpId="0"/>
      <p:bldP spid="16"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a:bodyPr>
          <a:lstStyle/>
          <a:p>
            <a:pPr algn="l"/>
            <a:r>
              <a:rPr lang="fr-FR" sz="3200" dirty="0">
                <a:solidFill>
                  <a:schemeClr val="bg1"/>
                </a:solidFill>
              </a:rPr>
              <a:t>Variable quantitative</a:t>
            </a:r>
          </a:p>
        </p:txBody>
      </p:sp>
      <p:sp>
        <p:nvSpPr>
          <p:cNvPr id="3" name="Espace réservé du contenu 2"/>
          <p:cNvSpPr>
            <a:spLocks noGrp="1"/>
          </p:cNvSpPr>
          <p:nvPr>
            <p:ph idx="1"/>
          </p:nvPr>
        </p:nvSpPr>
        <p:spPr>
          <a:xfrm>
            <a:off x="107504" y="764704"/>
            <a:ext cx="8928992" cy="5616624"/>
          </a:xfrm>
        </p:spPr>
        <p:txBody>
          <a:bodyPr>
            <a:normAutofit/>
          </a:bodyPr>
          <a:lstStyle/>
          <a:p>
            <a:pPr marL="0" indent="0">
              <a:spcBef>
                <a:spcPts val="0"/>
              </a:spcBef>
              <a:buNone/>
            </a:pPr>
            <a:r>
              <a:rPr lang="fr-FR" sz="2400" dirty="0">
                <a:solidFill>
                  <a:srgbClr val="0070C0"/>
                </a:solidFill>
              </a:rPr>
              <a:t>Variable quantitative</a:t>
            </a:r>
            <a:r>
              <a:rPr lang="fr-FR" dirty="0"/>
              <a:t>: </a:t>
            </a:r>
            <a:r>
              <a:rPr lang="fr-FR" sz="2400" dirty="0"/>
              <a:t>une variable est quantitative si ses modalités (valeurs) sont des nombres sur lesquels on peut réaliser des opérations arithmétiques telles que somme, moyenne, ...etc.</a:t>
            </a:r>
          </a:p>
          <a:p>
            <a:pPr>
              <a:spcBef>
                <a:spcPts val="1200"/>
              </a:spcBef>
              <a:buNone/>
            </a:pPr>
            <a:r>
              <a:rPr lang="fr-FR" sz="2400" dirty="0"/>
              <a:t>Les modalités d’une variable quantitative peuvent être fini</a:t>
            </a:r>
          </a:p>
          <a:p>
            <a:pPr>
              <a:spcBef>
                <a:spcPts val="0"/>
              </a:spcBef>
              <a:buNone/>
            </a:pPr>
            <a:r>
              <a:rPr lang="fr-FR" sz="2400" dirty="0"/>
              <a:t>(dénombrable) ou infini. Selon ces deux cas correspondent deux</a:t>
            </a:r>
          </a:p>
          <a:p>
            <a:pPr>
              <a:spcBef>
                <a:spcPts val="0"/>
              </a:spcBef>
              <a:spcAft>
                <a:spcPts val="1800"/>
              </a:spcAft>
              <a:buNone/>
            </a:pPr>
            <a:r>
              <a:rPr lang="fr-FR" sz="2400" dirty="0"/>
              <a:t>types de variables quantitatives.</a:t>
            </a:r>
          </a:p>
          <a:p>
            <a:pPr algn="ctr">
              <a:spcBef>
                <a:spcPts val="600"/>
              </a:spcBef>
              <a:buFont typeface="Wingdings" pitchFamily="2" charset="2"/>
              <a:buChar char="v"/>
            </a:pPr>
            <a:r>
              <a:rPr lang="fr-FR" sz="2400" dirty="0">
                <a:solidFill>
                  <a:srgbClr val="0070C0"/>
                </a:solidFill>
              </a:rPr>
              <a:t>Variable quantitative discrète </a:t>
            </a:r>
            <a:r>
              <a:rPr lang="fr-FR" sz="2400" dirty="0"/>
              <a:t>: une variable quantitative est discrète si le nombre de valeurs qu’elle peut prendre est fini (dénombrable).</a:t>
            </a:r>
          </a:p>
          <a:p>
            <a:pPr algn="ctr">
              <a:spcBef>
                <a:spcPts val="2400"/>
              </a:spcBef>
              <a:buFont typeface="Wingdings" pitchFamily="2" charset="2"/>
              <a:buChar char="v"/>
            </a:pPr>
            <a:r>
              <a:rPr lang="fr-FR" sz="2400" dirty="0">
                <a:solidFill>
                  <a:srgbClr val="0070C0"/>
                </a:solidFill>
              </a:rPr>
              <a:t>Variable quantitative continue </a:t>
            </a:r>
            <a:r>
              <a:rPr lang="fr-FR" sz="2400" dirty="0"/>
              <a:t>: une variable quantitative est</a:t>
            </a:r>
          </a:p>
          <a:p>
            <a:pPr>
              <a:spcBef>
                <a:spcPts val="0"/>
              </a:spcBef>
              <a:buNone/>
            </a:pPr>
            <a:r>
              <a:rPr lang="fr-FR" sz="2400" dirty="0"/>
              <a:t>continue si le nombre de valeurs qu’elle peut prendre est infini</a:t>
            </a:r>
          </a:p>
          <a:p>
            <a:pPr>
              <a:buNone/>
            </a:pPr>
            <a:r>
              <a:rPr lang="fr-FR" sz="2400" dirty="0"/>
              <a:t>(indénombrable).</a:t>
            </a:r>
          </a:p>
          <a:p>
            <a:pPr>
              <a:lnSpc>
                <a:spcPct val="80000"/>
              </a:lnSpc>
            </a:pPr>
            <a:endParaRPr lang="fr-FR" sz="2400" dirty="0"/>
          </a:p>
          <a:p>
            <a:endParaRPr lang="fr-FR" dirty="0"/>
          </a:p>
        </p:txBody>
      </p:sp>
      <p:sp>
        <p:nvSpPr>
          <p:cNvPr id="4" name="Espace réservé de la date 3"/>
          <p:cNvSpPr>
            <a:spLocks noGrp="1"/>
          </p:cNvSpPr>
          <p:nvPr>
            <p:ph type="dt" sz="half" idx="10"/>
          </p:nvPr>
        </p:nvSpPr>
        <p:spPr/>
        <p:txBody>
          <a:bodyPr/>
          <a:lstStyle/>
          <a:p>
            <a:fld id="{713F547B-A5FB-4658-9448-F5EC41F52FEF}"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15</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arn(inVertical)">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arn(inVertical)">
                                      <p:cBhvr>
                                        <p:cTn id="28" dur="500"/>
                                        <p:tgtEl>
                                          <p:spTgt spid="3">
                                            <p:txEl>
                                              <p:pRg st="5" end="5"/>
                                            </p:txEl>
                                          </p:spTgt>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arn(inVertical)">
                                      <p:cBhvr>
                                        <p:cTn id="31" dur="500"/>
                                        <p:tgtEl>
                                          <p:spTgt spid="3">
                                            <p:txEl>
                                              <p:pRg st="6" end="6"/>
                                            </p:txEl>
                                          </p:spTgt>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arn(inVertical)">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p:cNvGraphicFramePr>
            <a:graphicFrameLocks noGrp="1"/>
          </p:cNvGraphicFramePr>
          <p:nvPr>
            <p:ph idx="1"/>
          </p:nvPr>
        </p:nvGraphicFramePr>
        <p:xfrm>
          <a:off x="0" y="0"/>
          <a:ext cx="9144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Espace réservé de la date 2"/>
          <p:cNvSpPr>
            <a:spLocks noGrp="1"/>
          </p:cNvSpPr>
          <p:nvPr>
            <p:ph type="dt" sz="half" idx="10"/>
          </p:nvPr>
        </p:nvSpPr>
        <p:spPr/>
        <p:txBody>
          <a:bodyPr/>
          <a:lstStyle/>
          <a:p>
            <a:fld id="{55047255-BC8B-47CC-B78E-444EB18A7747}"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16</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graphicEl>
                                              <a:dgm id="{73D44466-89CF-4393-BE6B-F614693E1181}"/>
                                            </p:graphicEl>
                                          </p:spTgt>
                                        </p:tgtEl>
                                        <p:attrNameLst>
                                          <p:attrName>style.visibility</p:attrName>
                                        </p:attrNameLst>
                                      </p:cBhvr>
                                      <p:to>
                                        <p:strVal val="visible"/>
                                      </p:to>
                                    </p:set>
                                    <p:animEffect transition="in" filter="barn(inVertical)">
                                      <p:cBhvr>
                                        <p:cTn id="7" dur="500"/>
                                        <p:tgtEl>
                                          <p:spTgt spid="4">
                                            <p:graphicEl>
                                              <a:dgm id="{73D44466-89CF-4393-BE6B-F614693E118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graphicEl>
                                              <a:dgm id="{B8BA2F74-0A8E-4CFB-A60A-AD748AE0765F}"/>
                                            </p:graphicEl>
                                          </p:spTgt>
                                        </p:tgtEl>
                                        <p:attrNameLst>
                                          <p:attrName>style.visibility</p:attrName>
                                        </p:attrNameLst>
                                      </p:cBhvr>
                                      <p:to>
                                        <p:strVal val="visible"/>
                                      </p:to>
                                    </p:set>
                                    <p:animEffect transition="in" filter="barn(inVertical)">
                                      <p:cBhvr>
                                        <p:cTn id="12" dur="500"/>
                                        <p:tgtEl>
                                          <p:spTgt spid="4">
                                            <p:graphicEl>
                                              <a:dgm id="{B8BA2F74-0A8E-4CFB-A60A-AD748AE0765F}"/>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graphicEl>
                                              <a:dgm id="{8B859772-87C8-4E13-8DDA-161FC4AFFEFD}"/>
                                            </p:graphicEl>
                                          </p:spTgt>
                                        </p:tgtEl>
                                        <p:attrNameLst>
                                          <p:attrName>style.visibility</p:attrName>
                                        </p:attrNameLst>
                                      </p:cBhvr>
                                      <p:to>
                                        <p:strVal val="visible"/>
                                      </p:to>
                                    </p:set>
                                    <p:animEffect transition="in" filter="barn(inVertical)">
                                      <p:cBhvr>
                                        <p:cTn id="17" dur="500"/>
                                        <p:tgtEl>
                                          <p:spTgt spid="4">
                                            <p:graphicEl>
                                              <a:dgm id="{8B859772-87C8-4E13-8DDA-161FC4AFFEFD}"/>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graphicEl>
                                              <a:dgm id="{AD94ABF7-7C82-48B3-8C20-FA70F724B19A}"/>
                                            </p:graphicEl>
                                          </p:spTgt>
                                        </p:tgtEl>
                                        <p:attrNameLst>
                                          <p:attrName>style.visibility</p:attrName>
                                        </p:attrNameLst>
                                      </p:cBhvr>
                                      <p:to>
                                        <p:strVal val="visible"/>
                                      </p:to>
                                    </p:set>
                                    <p:animEffect transition="in" filter="barn(inVertical)">
                                      <p:cBhvr>
                                        <p:cTn id="22" dur="500"/>
                                        <p:tgtEl>
                                          <p:spTgt spid="4">
                                            <p:graphicEl>
                                              <a:dgm id="{AD94ABF7-7C82-48B3-8C20-FA70F724B19A}"/>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graphicEl>
                                              <a:dgm id="{86D17232-14DE-488E-A577-390F39A20DEB}"/>
                                            </p:graphicEl>
                                          </p:spTgt>
                                        </p:tgtEl>
                                        <p:attrNameLst>
                                          <p:attrName>style.visibility</p:attrName>
                                        </p:attrNameLst>
                                      </p:cBhvr>
                                      <p:to>
                                        <p:strVal val="visible"/>
                                      </p:to>
                                    </p:set>
                                    <p:animEffect transition="in" filter="barn(inVertical)">
                                      <p:cBhvr>
                                        <p:cTn id="27" dur="500"/>
                                        <p:tgtEl>
                                          <p:spTgt spid="4">
                                            <p:graphicEl>
                                              <a:dgm id="{86D17232-14DE-488E-A577-390F39A20DE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a:bodyPr>
          <a:lstStyle/>
          <a:p>
            <a:pPr algn="l"/>
            <a:r>
              <a:rPr lang="fr-FR" sz="3200" dirty="0">
                <a:solidFill>
                  <a:schemeClr val="bg1"/>
                </a:solidFill>
              </a:rPr>
              <a:t>Nature d’une variable statistique</a:t>
            </a:r>
          </a:p>
        </p:txBody>
      </p:sp>
      <p:pic>
        <p:nvPicPr>
          <p:cNvPr id="4" name="Picture 1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700808"/>
            <a:ext cx="9144000" cy="4643470"/>
          </a:xfrm>
          <a:prstGeom prst="rect">
            <a:avLst/>
          </a:prstGeom>
          <a:noFill/>
          <a:ln>
            <a:noFill/>
          </a:ln>
        </p:spPr>
      </p:pic>
      <p:sp>
        <p:nvSpPr>
          <p:cNvPr id="5" name="Rectangle 4"/>
          <p:cNvSpPr/>
          <p:nvPr/>
        </p:nvSpPr>
        <p:spPr>
          <a:xfrm>
            <a:off x="107504" y="764704"/>
            <a:ext cx="8928992" cy="707886"/>
          </a:xfrm>
          <a:prstGeom prst="rect">
            <a:avLst/>
          </a:prstGeom>
        </p:spPr>
        <p:txBody>
          <a:bodyPr wrap="square">
            <a:spAutoFit/>
          </a:bodyPr>
          <a:lstStyle/>
          <a:p>
            <a:pPr>
              <a:spcBef>
                <a:spcPts val="0"/>
              </a:spcBef>
              <a:buNone/>
            </a:pPr>
            <a:r>
              <a:rPr lang="fr-FR" sz="2000" dirty="0"/>
              <a:t>Le schéma ci-dessous résume les différents </a:t>
            </a:r>
            <a:r>
              <a:rPr lang="fr-FR" sz="2000"/>
              <a:t>types de variables </a:t>
            </a:r>
            <a:r>
              <a:rPr lang="fr-FR" sz="2000" dirty="0"/>
              <a:t>et leurs différences.</a:t>
            </a:r>
          </a:p>
        </p:txBody>
      </p:sp>
      <p:sp>
        <p:nvSpPr>
          <p:cNvPr id="6" name="Espace réservé de la date 5"/>
          <p:cNvSpPr>
            <a:spLocks noGrp="1"/>
          </p:cNvSpPr>
          <p:nvPr>
            <p:ph type="dt" sz="half" idx="10"/>
          </p:nvPr>
        </p:nvSpPr>
        <p:spPr/>
        <p:txBody>
          <a:bodyPr/>
          <a:lstStyle/>
          <a:p>
            <a:fld id="{2E229364-8BEF-471A-BD7D-E4B94940E9A9}" type="datetime1">
              <a:rPr lang="fr-FR" smtClean="0"/>
              <a:t>23/02/2026</a:t>
            </a:fld>
            <a:endParaRPr lang="fr-FR"/>
          </a:p>
        </p:txBody>
      </p:sp>
      <p:sp>
        <p:nvSpPr>
          <p:cNvPr id="7" name="Espace réservé du numéro de diapositive 6"/>
          <p:cNvSpPr>
            <a:spLocks noGrp="1"/>
          </p:cNvSpPr>
          <p:nvPr>
            <p:ph type="sldNum" sz="quarter" idx="12"/>
          </p:nvPr>
        </p:nvSpPr>
        <p:spPr/>
        <p:txBody>
          <a:bodyPr/>
          <a:lstStyle/>
          <a:p>
            <a:fld id="{ACD63441-67CA-4275-B112-E958F8793EB2}" type="slidenum">
              <a:rPr lang="fr-FR" smtClean="0"/>
              <a:pPr/>
              <a:t>17</a:t>
            </a:fld>
            <a:endParaRPr lang="fr-FR"/>
          </a:p>
        </p:txBody>
      </p:sp>
      <p:sp>
        <p:nvSpPr>
          <p:cNvPr id="8" name="Espace réservé du pied de page 7"/>
          <p:cNvSpPr>
            <a:spLocks noGrp="1"/>
          </p:cNvSpPr>
          <p:nvPr>
            <p:ph type="ftr" sz="quarter" idx="11"/>
          </p:nvPr>
        </p:nvSpPr>
        <p:spPr/>
        <p:txBody>
          <a:bodyPr/>
          <a:lstStyle/>
          <a:p>
            <a:r>
              <a:rPr lang="fr-FR"/>
              <a:t>Introduction à la Statistique descriptive</a:t>
            </a:r>
          </a:p>
        </p:txBody>
      </p:sp>
    </p:spTree>
    <p:extLst>
      <p:ext uri="{BB962C8B-B14F-4D97-AF65-F5344CB8AC3E}">
        <p14:creationId xmlns:p14="http://schemas.microsoft.com/office/powerpoint/2010/main" val="2738174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33600"/>
          </a:xfrm>
          <a:solidFill>
            <a:srgbClr val="0070C0"/>
          </a:solidFill>
        </p:spPr>
        <p:txBody>
          <a:bodyPr>
            <a:normAutofit/>
          </a:bodyPr>
          <a:lstStyle/>
          <a:p>
            <a:pPr algn="l"/>
            <a:r>
              <a:rPr lang="fr-FR" sz="3200" dirty="0">
                <a:solidFill>
                  <a:schemeClr val="bg1"/>
                </a:solidFill>
              </a:rPr>
              <a:t>Conclusion</a:t>
            </a:r>
          </a:p>
        </p:txBody>
      </p:sp>
      <p:sp>
        <p:nvSpPr>
          <p:cNvPr id="3" name="Espace réservé du contenu 2"/>
          <p:cNvSpPr>
            <a:spLocks noGrp="1"/>
          </p:cNvSpPr>
          <p:nvPr>
            <p:ph idx="1"/>
          </p:nvPr>
        </p:nvSpPr>
        <p:spPr>
          <a:xfrm>
            <a:off x="457200" y="1340768"/>
            <a:ext cx="8229600" cy="4525963"/>
          </a:xfrm>
        </p:spPr>
        <p:txBody>
          <a:bodyPr>
            <a:normAutofit fontScale="92500"/>
          </a:bodyPr>
          <a:lstStyle/>
          <a:p>
            <a:pPr>
              <a:buNone/>
            </a:pPr>
            <a:r>
              <a:rPr lang="fr-FR" dirty="0"/>
              <a:t>Toute étude de variable statistique devra être</a:t>
            </a:r>
          </a:p>
          <a:p>
            <a:pPr>
              <a:buNone/>
            </a:pPr>
            <a:r>
              <a:rPr lang="fr-FR" dirty="0"/>
              <a:t>précédée d’une identification claire de :</a:t>
            </a:r>
          </a:p>
          <a:p>
            <a:pPr algn="ctr">
              <a:lnSpc>
                <a:spcPct val="160000"/>
              </a:lnSpc>
            </a:pPr>
            <a:r>
              <a:rPr lang="fr-FR" dirty="0">
                <a:solidFill>
                  <a:schemeClr val="accent1"/>
                </a:solidFill>
              </a:rPr>
              <a:t>La </a:t>
            </a:r>
            <a:r>
              <a:rPr lang="fr-FR" b="1" dirty="0">
                <a:solidFill>
                  <a:schemeClr val="accent1"/>
                </a:solidFill>
              </a:rPr>
              <a:t>population </a:t>
            </a:r>
            <a:r>
              <a:rPr lang="fr-FR" b="1" dirty="0"/>
              <a:t>(groupe sur lequel porte l’étude)</a:t>
            </a:r>
          </a:p>
          <a:p>
            <a:pPr algn="ctr"/>
            <a:endParaRPr lang="fr-FR" dirty="0"/>
          </a:p>
          <a:p>
            <a:pPr algn="ctr"/>
            <a:r>
              <a:rPr lang="fr-FR" dirty="0">
                <a:solidFill>
                  <a:schemeClr val="accent1"/>
                </a:solidFill>
              </a:rPr>
              <a:t>La </a:t>
            </a:r>
            <a:r>
              <a:rPr lang="fr-FR" b="1" dirty="0">
                <a:solidFill>
                  <a:schemeClr val="accent1"/>
                </a:solidFill>
              </a:rPr>
              <a:t>variable </a:t>
            </a:r>
            <a:r>
              <a:rPr lang="fr-FR" dirty="0"/>
              <a:t>(</a:t>
            </a:r>
            <a:r>
              <a:rPr lang="fr-FR" b="1" dirty="0"/>
              <a:t>caractère</a:t>
            </a:r>
            <a:r>
              <a:rPr lang="fr-FR" dirty="0"/>
              <a:t>) étudiée et de sa nature, à savoir </a:t>
            </a:r>
            <a:r>
              <a:rPr lang="fr-FR" b="1" dirty="0"/>
              <a:t>qualitatif</a:t>
            </a:r>
            <a:r>
              <a:rPr lang="fr-FR" dirty="0"/>
              <a:t> ou </a:t>
            </a:r>
            <a:r>
              <a:rPr lang="fr-FR" b="1" dirty="0"/>
              <a:t>quantitatif </a:t>
            </a:r>
            <a:r>
              <a:rPr lang="fr-FR" dirty="0"/>
              <a:t>et, dans le cas quantitatif, </a:t>
            </a:r>
            <a:r>
              <a:rPr lang="fr-FR" b="1" dirty="0"/>
              <a:t>discret</a:t>
            </a:r>
            <a:r>
              <a:rPr lang="fr-FR" dirty="0"/>
              <a:t> ou </a:t>
            </a:r>
            <a:r>
              <a:rPr lang="fr-FR" b="1" dirty="0"/>
              <a:t>continu</a:t>
            </a:r>
            <a:r>
              <a:rPr lang="fr-FR" dirty="0"/>
              <a:t>. Dans le cas qualitatif si c’est </a:t>
            </a:r>
            <a:r>
              <a:rPr lang="fr-FR" b="1" dirty="0"/>
              <a:t>nominale</a:t>
            </a:r>
            <a:r>
              <a:rPr lang="fr-FR" dirty="0"/>
              <a:t> ou </a:t>
            </a:r>
            <a:r>
              <a:rPr lang="fr-FR" b="1" dirty="0"/>
              <a:t>ordinale</a:t>
            </a:r>
            <a:r>
              <a:rPr lang="fr-FR" dirty="0"/>
              <a:t>.</a:t>
            </a:r>
          </a:p>
          <a:p>
            <a:endParaRPr lang="fr-FR" dirty="0"/>
          </a:p>
        </p:txBody>
      </p:sp>
      <p:sp>
        <p:nvSpPr>
          <p:cNvPr id="4" name="Espace réservé de la date 3"/>
          <p:cNvSpPr>
            <a:spLocks noGrp="1"/>
          </p:cNvSpPr>
          <p:nvPr>
            <p:ph type="dt" sz="half" idx="10"/>
          </p:nvPr>
        </p:nvSpPr>
        <p:spPr/>
        <p:txBody>
          <a:bodyPr/>
          <a:lstStyle/>
          <a:p>
            <a:fld id="{16B03AE2-43AD-4F89-8AD0-1CB90BE5C726}" type="datetime1">
              <a:rPr lang="fr-FR" smtClean="0"/>
              <a:t>23/02/2026</a:t>
            </a:fld>
            <a:endParaRPr lang="fr-FR"/>
          </a:p>
        </p:txBody>
      </p:sp>
      <p:sp>
        <p:nvSpPr>
          <p:cNvPr id="5" name="Espace réservé du numéro de diapositive 4"/>
          <p:cNvSpPr>
            <a:spLocks noGrp="1"/>
          </p:cNvSpPr>
          <p:nvPr>
            <p:ph type="sldNum" sz="quarter" idx="12"/>
          </p:nvPr>
        </p:nvSpPr>
        <p:spPr/>
        <p:txBody>
          <a:bodyPr/>
          <a:lstStyle/>
          <a:p>
            <a:fld id="{ACD63441-67CA-4275-B112-E958F8793EB2}" type="slidenum">
              <a:rPr lang="fr-FR" smtClean="0"/>
              <a:pPr/>
              <a:t>18</a:t>
            </a:fld>
            <a:endParaRPr lang="fr-FR"/>
          </a:p>
        </p:txBody>
      </p:sp>
      <p:sp>
        <p:nvSpPr>
          <p:cNvPr id="6" name="Espace réservé du pied de page 5"/>
          <p:cNvSpPr>
            <a:spLocks noGrp="1"/>
          </p:cNvSpPr>
          <p:nvPr>
            <p:ph type="ftr" sz="quarter" idx="11"/>
          </p:nvPr>
        </p:nvSpPr>
        <p:spPr/>
        <p:txBody>
          <a:bodyPr/>
          <a:lstStyle/>
          <a:p>
            <a:r>
              <a:rPr lang="fr-FR"/>
              <a:t>Introduction à la Statistique descriptive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arn(inVertical)">
                                      <p:cBhvr>
                                        <p:cTn id="13" dur="500"/>
                                        <p:tgtEl>
                                          <p:spTgt spid="3">
                                            <p:txEl>
                                              <p:pRg st="2" end="2"/>
                                            </p:txEl>
                                          </p:spTgt>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1215</Words>
  <Application>Microsoft Office PowerPoint</Application>
  <PresentationFormat>Affichage à l'écran (4:3)</PresentationFormat>
  <Paragraphs>230</Paragraphs>
  <Slides>18</Slides>
  <Notes>1</Notes>
  <HiddenSlides>0</HiddenSlides>
  <MMClips>0</MMClips>
  <ScaleCrop>false</ScaleCrop>
  <HeadingPairs>
    <vt:vector size="8" baseType="variant">
      <vt:variant>
        <vt:lpstr>Polices utilisées</vt:lpstr>
      </vt:variant>
      <vt:variant>
        <vt:i4>4</vt:i4>
      </vt:variant>
      <vt:variant>
        <vt:lpstr>Thème</vt:lpstr>
      </vt:variant>
      <vt:variant>
        <vt:i4>1</vt:i4>
      </vt:variant>
      <vt:variant>
        <vt:lpstr>Titres des diapositives</vt:lpstr>
      </vt:variant>
      <vt:variant>
        <vt:i4>18</vt:i4>
      </vt:variant>
      <vt:variant>
        <vt:lpstr>Diaporamas personnalisés</vt:lpstr>
      </vt:variant>
      <vt:variant>
        <vt:i4>1</vt:i4>
      </vt:variant>
    </vt:vector>
  </HeadingPairs>
  <TitlesOfParts>
    <vt:vector size="24" baseType="lpstr">
      <vt:lpstr>Arial</vt:lpstr>
      <vt:lpstr>Calibri</vt:lpstr>
      <vt:lpstr>Times New Roman</vt:lpstr>
      <vt:lpstr>Wingdings</vt:lpstr>
      <vt:lpstr>Thème Office</vt:lpstr>
      <vt:lpstr>Présentation PowerPoint</vt:lpstr>
      <vt:lpstr>Chapitre 1: Vocabulaire de la statistique descriptive</vt:lpstr>
      <vt:lpstr>Objectifs </vt:lpstr>
      <vt:lpstr>Terminologie </vt:lpstr>
      <vt:lpstr>Terminologie </vt:lpstr>
      <vt:lpstr>Terminologie </vt:lpstr>
      <vt:lpstr>Exemple de population et variable  </vt:lpstr>
      <vt:lpstr>Application   </vt:lpstr>
      <vt:lpstr>Application  </vt:lpstr>
      <vt:lpstr>Application  </vt:lpstr>
      <vt:lpstr>Application  </vt:lpstr>
      <vt:lpstr>Nature d’une variable</vt:lpstr>
      <vt:lpstr>Variable qualitative</vt:lpstr>
      <vt:lpstr>Présentation PowerPoint</vt:lpstr>
      <vt:lpstr>Variable quantitative</vt:lpstr>
      <vt:lpstr>Présentation PowerPoint</vt:lpstr>
      <vt:lpstr>Nature d’une variable statistique</vt:lpstr>
      <vt:lpstr>Conclusion</vt:lpstr>
      <vt:lpstr>Diaporama personnalisé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Statistique descriptive</dc:title>
  <dc:creator>DOUALEH</dc:creator>
  <cp:lastModifiedBy>Houssein MOUSSA GUEDI</cp:lastModifiedBy>
  <cp:revision>1288</cp:revision>
  <dcterms:created xsi:type="dcterms:W3CDTF">2014-10-02T05:56:17Z</dcterms:created>
  <dcterms:modified xsi:type="dcterms:W3CDTF">2026-02-23T06:33:10Z</dcterms:modified>
</cp:coreProperties>
</file>